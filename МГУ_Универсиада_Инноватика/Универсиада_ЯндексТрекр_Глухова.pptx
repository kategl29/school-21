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67" r:id="rId9"/>
    <p:sldId id="271" r:id="rId10"/>
    <p:sldId id="270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60" d="100"/>
          <a:sy n="160" d="100"/>
        </p:scale>
        <p:origin x="186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067599-5A2C-4B94-8445-E761BDED9B0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264B9EA-AD9E-47E3-8125-46A5E69D447B}">
      <dgm:prSet custT="1"/>
      <dgm:spPr>
        <a:solidFill>
          <a:schemeClr val="accent1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ru-RU" sz="2000" b="0" u="sng" dirty="0" smtClean="0">
              <a:solidFill>
                <a:schemeClr val="accent5"/>
              </a:solidFill>
            </a:rPr>
            <a:t>Доступность</a:t>
          </a:r>
          <a:r>
            <a:rPr lang="ru-RU" sz="2000" b="0" dirty="0" smtClean="0">
              <a:solidFill>
                <a:schemeClr val="accent5"/>
              </a:solidFill>
            </a:rPr>
            <a:t>: </a:t>
          </a:r>
          <a:r>
            <a:rPr lang="ru-RU" sz="2000" dirty="0" smtClean="0">
              <a:solidFill>
                <a:schemeClr val="tx2"/>
              </a:solidFill>
            </a:rPr>
            <a:t>бесплатный или недорогой тариф с базовым функционалом, а также возможность поддержки работы с телефона или планшета.</a:t>
          </a:r>
          <a:endParaRPr lang="ru-RU" sz="2000" dirty="0">
            <a:solidFill>
              <a:schemeClr val="tx2"/>
            </a:solidFill>
          </a:endParaRPr>
        </a:p>
      </dgm:t>
    </dgm:pt>
    <dgm:pt modelId="{65A03F0F-52B5-4781-A345-AC4876E3C023}" type="parTrans" cxnId="{A8941125-64A8-4306-8879-BC2BAD7E4931}">
      <dgm:prSet/>
      <dgm:spPr/>
      <dgm:t>
        <a:bodyPr/>
        <a:lstStyle/>
        <a:p>
          <a:endParaRPr lang="ru-RU"/>
        </a:p>
      </dgm:t>
    </dgm:pt>
    <dgm:pt modelId="{6ACBF046-BDF6-4525-8197-0B71256E2910}" type="sibTrans" cxnId="{A8941125-64A8-4306-8879-BC2BAD7E4931}">
      <dgm:prSet/>
      <dgm:spPr/>
      <dgm:t>
        <a:bodyPr/>
        <a:lstStyle/>
        <a:p>
          <a:endParaRPr lang="ru-RU"/>
        </a:p>
      </dgm:t>
    </dgm:pt>
    <dgm:pt modelId="{CEA10E5D-71B8-4B7C-80E9-783AAFACBF57}">
      <dgm:prSet custT="1"/>
      <dgm:spPr>
        <a:solidFill>
          <a:schemeClr val="accent1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ru-RU" sz="2000" u="sng" dirty="0" smtClean="0">
              <a:solidFill>
                <a:schemeClr val="accent5"/>
              </a:solidFill>
            </a:rPr>
            <a:t>Простой и понятный интерфейс</a:t>
          </a:r>
          <a:r>
            <a:rPr lang="ru-RU" sz="2000" dirty="0" smtClean="0">
              <a:solidFill>
                <a:schemeClr val="accent5"/>
              </a:solidFill>
            </a:rPr>
            <a:t>,</a:t>
          </a:r>
          <a:r>
            <a:rPr lang="ru-RU" sz="2000" dirty="0" smtClean="0"/>
            <a:t> </a:t>
          </a:r>
          <a:r>
            <a:rPr lang="ru-RU" sz="2000" dirty="0" smtClean="0">
              <a:solidFill>
                <a:schemeClr val="tx2"/>
              </a:solidFill>
            </a:rPr>
            <a:t>чтобы сократить время обучения сотрудников</a:t>
          </a:r>
          <a:r>
            <a:rPr lang="ru-RU" sz="1900" dirty="0" smtClean="0">
              <a:solidFill>
                <a:schemeClr val="tx2"/>
              </a:solidFill>
            </a:rPr>
            <a:t>.</a:t>
          </a:r>
          <a:endParaRPr lang="ru-RU" sz="1900" dirty="0">
            <a:solidFill>
              <a:schemeClr val="tx2"/>
            </a:solidFill>
          </a:endParaRPr>
        </a:p>
      </dgm:t>
    </dgm:pt>
    <dgm:pt modelId="{E8234FAE-62A9-4ECD-877E-E9A4FEEC30E0}" type="parTrans" cxnId="{D84F40D8-CB6B-4032-8849-9DA094ABC4CE}">
      <dgm:prSet/>
      <dgm:spPr/>
      <dgm:t>
        <a:bodyPr/>
        <a:lstStyle/>
        <a:p>
          <a:endParaRPr lang="ru-RU"/>
        </a:p>
      </dgm:t>
    </dgm:pt>
    <dgm:pt modelId="{A6C0561F-106D-40C9-8576-3F1DDF591BD2}" type="sibTrans" cxnId="{D84F40D8-CB6B-4032-8849-9DA094ABC4CE}">
      <dgm:prSet/>
      <dgm:spPr/>
      <dgm:t>
        <a:bodyPr/>
        <a:lstStyle/>
        <a:p>
          <a:endParaRPr lang="ru-RU"/>
        </a:p>
      </dgm:t>
    </dgm:pt>
    <dgm:pt modelId="{0C76207A-1B39-4966-914F-8FAA724749BB}">
      <dgm:prSet custT="1"/>
      <dgm:spPr>
        <a:solidFill>
          <a:schemeClr val="accent1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ru-RU" sz="2000" u="sng" dirty="0" smtClean="0">
              <a:solidFill>
                <a:schemeClr val="accent5"/>
              </a:solidFill>
            </a:rPr>
            <a:t>Автоматизация процесса</a:t>
          </a:r>
          <a:r>
            <a:rPr lang="ru-RU" sz="2000" dirty="0" smtClean="0">
              <a:solidFill>
                <a:schemeClr val="accent5"/>
              </a:solidFill>
            </a:rPr>
            <a:t> </a:t>
          </a:r>
          <a:r>
            <a:rPr lang="ru-RU" sz="2000" dirty="0" smtClean="0">
              <a:solidFill>
                <a:schemeClr val="tx2"/>
              </a:solidFill>
            </a:rPr>
            <a:t>для экономии времени: например, шаблоны для повторяющихся задач (прием заказов)</a:t>
          </a:r>
          <a:endParaRPr lang="ru-RU" sz="2000" dirty="0">
            <a:solidFill>
              <a:schemeClr val="tx2"/>
            </a:solidFill>
          </a:endParaRPr>
        </a:p>
      </dgm:t>
    </dgm:pt>
    <dgm:pt modelId="{EFD29046-D4BD-4EBC-AD7C-27A71AD8E3B1}" type="parTrans" cxnId="{71A8794B-A752-4D1D-8319-7545DB54A342}">
      <dgm:prSet/>
      <dgm:spPr/>
      <dgm:t>
        <a:bodyPr/>
        <a:lstStyle/>
        <a:p>
          <a:endParaRPr lang="ru-RU"/>
        </a:p>
      </dgm:t>
    </dgm:pt>
    <dgm:pt modelId="{983A0AB8-3ED6-4111-8CE4-D2B5D5D34C41}" type="sibTrans" cxnId="{71A8794B-A752-4D1D-8319-7545DB54A342}">
      <dgm:prSet/>
      <dgm:spPr/>
      <dgm:t>
        <a:bodyPr/>
        <a:lstStyle/>
        <a:p>
          <a:endParaRPr lang="ru-RU"/>
        </a:p>
      </dgm:t>
    </dgm:pt>
    <dgm:pt modelId="{0A0E364B-C868-4CB6-A6E7-3A07A98A0B9E}">
      <dgm:prSet custT="1"/>
      <dgm:spPr>
        <a:solidFill>
          <a:schemeClr val="accent1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ru-RU" sz="2000" u="sng" dirty="0" smtClean="0">
              <a:solidFill>
                <a:schemeClr val="accent5"/>
              </a:solidFill>
            </a:rPr>
            <a:t>Функциональность и гибкость</a:t>
          </a:r>
          <a:r>
            <a:rPr lang="ru-RU" sz="2000" dirty="0" smtClean="0">
              <a:solidFill>
                <a:schemeClr val="accent5"/>
              </a:solidFill>
            </a:rPr>
            <a:t>: </a:t>
          </a:r>
          <a:r>
            <a:rPr lang="ru-RU" sz="2000" dirty="0" smtClean="0">
              <a:solidFill>
                <a:schemeClr val="tx2"/>
              </a:solidFill>
            </a:rPr>
            <a:t>возможность адаптации под разные задачи (управление проектами, CRM, учет задач), а также возможность расширения функционала по мере роста бизнеса.</a:t>
          </a:r>
          <a:endParaRPr lang="ru-RU" sz="2000" dirty="0">
            <a:solidFill>
              <a:schemeClr val="tx2"/>
            </a:solidFill>
          </a:endParaRPr>
        </a:p>
      </dgm:t>
    </dgm:pt>
    <dgm:pt modelId="{E5AC6E8B-0FB5-4206-BB75-F8FB57DA8F01}" type="parTrans" cxnId="{F1D0FDA2-C207-4467-8782-E23465F3A97D}">
      <dgm:prSet/>
      <dgm:spPr/>
      <dgm:t>
        <a:bodyPr/>
        <a:lstStyle/>
        <a:p>
          <a:endParaRPr lang="ru-RU"/>
        </a:p>
      </dgm:t>
    </dgm:pt>
    <dgm:pt modelId="{D8C2AB4C-44DD-44BA-AF1B-206401552047}" type="sibTrans" cxnId="{F1D0FDA2-C207-4467-8782-E23465F3A97D}">
      <dgm:prSet/>
      <dgm:spPr/>
      <dgm:t>
        <a:bodyPr/>
        <a:lstStyle/>
        <a:p>
          <a:endParaRPr lang="ru-RU"/>
        </a:p>
      </dgm:t>
    </dgm:pt>
    <dgm:pt modelId="{18BF4333-A578-4FFB-80EB-860DB8F9EEE5}" type="pres">
      <dgm:prSet presAssocID="{6E067599-5A2C-4B94-8445-E761BDED9B05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E77D6EAC-0217-44D6-88F1-CAE9CBE93141}" type="pres">
      <dgm:prSet presAssocID="{6E067599-5A2C-4B94-8445-E761BDED9B05}" presName="Name1" presStyleCnt="0"/>
      <dgm:spPr/>
    </dgm:pt>
    <dgm:pt modelId="{09108C85-B814-4997-A71E-007665262277}" type="pres">
      <dgm:prSet presAssocID="{6E067599-5A2C-4B94-8445-E761BDED9B05}" presName="cycle" presStyleCnt="0"/>
      <dgm:spPr/>
    </dgm:pt>
    <dgm:pt modelId="{FC686A4C-1693-42DC-8C40-D6A139085B2F}" type="pres">
      <dgm:prSet presAssocID="{6E067599-5A2C-4B94-8445-E761BDED9B05}" presName="srcNode" presStyleLbl="node1" presStyleIdx="0" presStyleCnt="4"/>
      <dgm:spPr/>
    </dgm:pt>
    <dgm:pt modelId="{AE6828D6-2AF3-4091-BDCE-0A20F62A988B}" type="pres">
      <dgm:prSet presAssocID="{6E067599-5A2C-4B94-8445-E761BDED9B05}" presName="conn" presStyleLbl="parChTrans1D2" presStyleIdx="0" presStyleCnt="1"/>
      <dgm:spPr/>
      <dgm:t>
        <a:bodyPr/>
        <a:lstStyle/>
        <a:p>
          <a:endParaRPr lang="ru-RU"/>
        </a:p>
      </dgm:t>
    </dgm:pt>
    <dgm:pt modelId="{5BAB4A43-7998-4E01-A823-5DE2440BD3EF}" type="pres">
      <dgm:prSet presAssocID="{6E067599-5A2C-4B94-8445-E761BDED9B05}" presName="extraNode" presStyleLbl="node1" presStyleIdx="0" presStyleCnt="4"/>
      <dgm:spPr/>
    </dgm:pt>
    <dgm:pt modelId="{AB73D803-5EF8-4EB9-9E78-510E75195E8F}" type="pres">
      <dgm:prSet presAssocID="{6E067599-5A2C-4B94-8445-E761BDED9B05}" presName="dstNode" presStyleLbl="node1" presStyleIdx="0" presStyleCnt="4"/>
      <dgm:spPr/>
    </dgm:pt>
    <dgm:pt modelId="{DBD8A5EE-5279-4F19-B6EA-6B8B1CACFA43}" type="pres">
      <dgm:prSet presAssocID="{9264B9EA-AD9E-47E3-8125-46A5E69D447B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CA300B-64DB-4B41-B51E-26EB631182D6}" type="pres">
      <dgm:prSet presAssocID="{9264B9EA-AD9E-47E3-8125-46A5E69D447B}" presName="accent_1" presStyleCnt="0"/>
      <dgm:spPr/>
    </dgm:pt>
    <dgm:pt modelId="{D6139D3A-5144-488D-92A1-3F839E6A97DA}" type="pres">
      <dgm:prSet presAssocID="{9264B9EA-AD9E-47E3-8125-46A5E69D447B}" presName="accentRepeatNode" presStyleLbl="solidFgAcc1" presStyleIdx="0" presStyleCnt="4"/>
      <dgm:spPr>
        <a:solidFill>
          <a:schemeClr val="tx2"/>
        </a:solidFill>
        <a:ln>
          <a:solidFill>
            <a:schemeClr val="accent1"/>
          </a:solidFill>
        </a:ln>
      </dgm:spPr>
    </dgm:pt>
    <dgm:pt modelId="{10616104-CFD3-4908-A8F1-9DDBEF67DE25}" type="pres">
      <dgm:prSet presAssocID="{CEA10E5D-71B8-4B7C-80E9-783AAFACBF57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A79E668-3D35-4CA8-BDA6-BF5E61975DBA}" type="pres">
      <dgm:prSet presAssocID="{CEA10E5D-71B8-4B7C-80E9-783AAFACBF57}" presName="accent_2" presStyleCnt="0"/>
      <dgm:spPr/>
    </dgm:pt>
    <dgm:pt modelId="{7C32C14E-E2F4-457D-992C-328470A9DB57}" type="pres">
      <dgm:prSet presAssocID="{CEA10E5D-71B8-4B7C-80E9-783AAFACBF57}" presName="accentRepeatNode" presStyleLbl="solidFgAcc1" presStyleIdx="1" presStyleCnt="4"/>
      <dgm:spPr>
        <a:solidFill>
          <a:schemeClr val="tx2"/>
        </a:solidFill>
        <a:ln>
          <a:solidFill>
            <a:schemeClr val="accent1"/>
          </a:solidFill>
        </a:ln>
      </dgm:spPr>
    </dgm:pt>
    <dgm:pt modelId="{2C811F89-05B5-4FF4-8739-5F517BB18E9E}" type="pres">
      <dgm:prSet presAssocID="{0C76207A-1B39-4966-914F-8FAA724749BB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F7A6743-B749-4143-A14C-7437D145879A}" type="pres">
      <dgm:prSet presAssocID="{0C76207A-1B39-4966-914F-8FAA724749BB}" presName="accent_3" presStyleCnt="0"/>
      <dgm:spPr/>
    </dgm:pt>
    <dgm:pt modelId="{BF4687E3-E51A-4394-9EF4-3C1F1B2D0AB9}" type="pres">
      <dgm:prSet presAssocID="{0C76207A-1B39-4966-914F-8FAA724749BB}" presName="accentRepeatNode" presStyleLbl="solidFgAcc1" presStyleIdx="2" presStyleCnt="4"/>
      <dgm:spPr>
        <a:solidFill>
          <a:schemeClr val="tx2"/>
        </a:solidFill>
        <a:ln>
          <a:solidFill>
            <a:schemeClr val="accent1"/>
          </a:solidFill>
        </a:ln>
      </dgm:spPr>
    </dgm:pt>
    <dgm:pt modelId="{577C06BD-5342-4E38-9B8C-3CF24EB50121}" type="pres">
      <dgm:prSet presAssocID="{0A0E364B-C868-4CB6-A6E7-3A07A98A0B9E}" presName="text_4" presStyleLbl="node1" presStyleIdx="3" presStyleCnt="4" custScaleY="11975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6F8C129-091D-4744-847C-8F32A7E6D19B}" type="pres">
      <dgm:prSet presAssocID="{0A0E364B-C868-4CB6-A6E7-3A07A98A0B9E}" presName="accent_4" presStyleCnt="0"/>
      <dgm:spPr/>
    </dgm:pt>
    <dgm:pt modelId="{138F1837-1919-4D77-8851-141BB3450E93}" type="pres">
      <dgm:prSet presAssocID="{0A0E364B-C868-4CB6-A6E7-3A07A98A0B9E}" presName="accentRepeatNode" presStyleLbl="solidFgAcc1" presStyleIdx="3" presStyleCnt="4"/>
      <dgm:spPr>
        <a:solidFill>
          <a:schemeClr val="tx2"/>
        </a:solidFill>
        <a:ln>
          <a:solidFill>
            <a:schemeClr val="accent1"/>
          </a:solidFill>
        </a:ln>
      </dgm:spPr>
    </dgm:pt>
  </dgm:ptLst>
  <dgm:cxnLst>
    <dgm:cxn modelId="{399EF6B3-A20A-403C-8A55-7F33B814689E}" type="presOf" srcId="{0A0E364B-C868-4CB6-A6E7-3A07A98A0B9E}" destId="{577C06BD-5342-4E38-9B8C-3CF24EB50121}" srcOrd="0" destOrd="0" presId="urn:microsoft.com/office/officeart/2008/layout/VerticalCurvedList"/>
    <dgm:cxn modelId="{F1D0FDA2-C207-4467-8782-E23465F3A97D}" srcId="{6E067599-5A2C-4B94-8445-E761BDED9B05}" destId="{0A0E364B-C868-4CB6-A6E7-3A07A98A0B9E}" srcOrd="3" destOrd="0" parTransId="{E5AC6E8B-0FB5-4206-BB75-F8FB57DA8F01}" sibTransId="{D8C2AB4C-44DD-44BA-AF1B-206401552047}"/>
    <dgm:cxn modelId="{D6507D20-F8EF-4A1D-90CF-72D659529613}" type="presOf" srcId="{0C76207A-1B39-4966-914F-8FAA724749BB}" destId="{2C811F89-05B5-4FF4-8739-5F517BB18E9E}" srcOrd="0" destOrd="0" presId="urn:microsoft.com/office/officeart/2008/layout/VerticalCurvedList"/>
    <dgm:cxn modelId="{A8941125-64A8-4306-8879-BC2BAD7E4931}" srcId="{6E067599-5A2C-4B94-8445-E761BDED9B05}" destId="{9264B9EA-AD9E-47E3-8125-46A5E69D447B}" srcOrd="0" destOrd="0" parTransId="{65A03F0F-52B5-4781-A345-AC4876E3C023}" sibTransId="{6ACBF046-BDF6-4525-8197-0B71256E2910}"/>
    <dgm:cxn modelId="{71A8794B-A752-4D1D-8319-7545DB54A342}" srcId="{6E067599-5A2C-4B94-8445-E761BDED9B05}" destId="{0C76207A-1B39-4966-914F-8FAA724749BB}" srcOrd="2" destOrd="0" parTransId="{EFD29046-D4BD-4EBC-AD7C-27A71AD8E3B1}" sibTransId="{983A0AB8-3ED6-4111-8CE4-D2B5D5D34C41}"/>
    <dgm:cxn modelId="{7EE206DF-7D17-42FF-99EE-5D5390E60C60}" type="presOf" srcId="{CEA10E5D-71B8-4B7C-80E9-783AAFACBF57}" destId="{10616104-CFD3-4908-A8F1-9DDBEF67DE25}" srcOrd="0" destOrd="0" presId="urn:microsoft.com/office/officeart/2008/layout/VerticalCurvedList"/>
    <dgm:cxn modelId="{D7E7567F-400B-4851-8022-B66B7026D780}" type="presOf" srcId="{6ACBF046-BDF6-4525-8197-0B71256E2910}" destId="{AE6828D6-2AF3-4091-BDCE-0A20F62A988B}" srcOrd="0" destOrd="0" presId="urn:microsoft.com/office/officeart/2008/layout/VerticalCurvedList"/>
    <dgm:cxn modelId="{B955E4A6-F8CD-47A7-9D30-CDFC75F5DE0D}" type="presOf" srcId="{9264B9EA-AD9E-47E3-8125-46A5E69D447B}" destId="{DBD8A5EE-5279-4F19-B6EA-6B8B1CACFA43}" srcOrd="0" destOrd="0" presId="urn:microsoft.com/office/officeart/2008/layout/VerticalCurvedList"/>
    <dgm:cxn modelId="{7B0969CA-4C35-4BF1-B842-4F2EED21B0F8}" type="presOf" srcId="{6E067599-5A2C-4B94-8445-E761BDED9B05}" destId="{18BF4333-A578-4FFB-80EB-860DB8F9EEE5}" srcOrd="0" destOrd="0" presId="urn:microsoft.com/office/officeart/2008/layout/VerticalCurvedList"/>
    <dgm:cxn modelId="{D84F40D8-CB6B-4032-8849-9DA094ABC4CE}" srcId="{6E067599-5A2C-4B94-8445-E761BDED9B05}" destId="{CEA10E5D-71B8-4B7C-80E9-783AAFACBF57}" srcOrd="1" destOrd="0" parTransId="{E8234FAE-62A9-4ECD-877E-E9A4FEEC30E0}" sibTransId="{A6C0561F-106D-40C9-8576-3F1DDF591BD2}"/>
    <dgm:cxn modelId="{13087FD7-27B6-49AB-942A-DA4AB38BD015}" type="presParOf" srcId="{18BF4333-A578-4FFB-80EB-860DB8F9EEE5}" destId="{E77D6EAC-0217-44D6-88F1-CAE9CBE93141}" srcOrd="0" destOrd="0" presId="urn:microsoft.com/office/officeart/2008/layout/VerticalCurvedList"/>
    <dgm:cxn modelId="{7528E083-1784-4DED-A7E3-259B86613A89}" type="presParOf" srcId="{E77D6EAC-0217-44D6-88F1-CAE9CBE93141}" destId="{09108C85-B814-4997-A71E-007665262277}" srcOrd="0" destOrd="0" presId="urn:microsoft.com/office/officeart/2008/layout/VerticalCurvedList"/>
    <dgm:cxn modelId="{53FEC027-097C-4694-B053-6B65ECC755CA}" type="presParOf" srcId="{09108C85-B814-4997-A71E-007665262277}" destId="{FC686A4C-1693-42DC-8C40-D6A139085B2F}" srcOrd="0" destOrd="0" presId="urn:microsoft.com/office/officeart/2008/layout/VerticalCurvedList"/>
    <dgm:cxn modelId="{CAFC0A18-2D6F-4367-AF6E-F4B0A7D775D2}" type="presParOf" srcId="{09108C85-B814-4997-A71E-007665262277}" destId="{AE6828D6-2AF3-4091-BDCE-0A20F62A988B}" srcOrd="1" destOrd="0" presId="urn:microsoft.com/office/officeart/2008/layout/VerticalCurvedList"/>
    <dgm:cxn modelId="{179BAEAF-FEA9-400D-A99B-0522A817FB14}" type="presParOf" srcId="{09108C85-B814-4997-A71E-007665262277}" destId="{5BAB4A43-7998-4E01-A823-5DE2440BD3EF}" srcOrd="2" destOrd="0" presId="urn:microsoft.com/office/officeart/2008/layout/VerticalCurvedList"/>
    <dgm:cxn modelId="{63B9DD8B-F663-446C-B386-EDE57F0F4781}" type="presParOf" srcId="{09108C85-B814-4997-A71E-007665262277}" destId="{AB73D803-5EF8-4EB9-9E78-510E75195E8F}" srcOrd="3" destOrd="0" presId="urn:microsoft.com/office/officeart/2008/layout/VerticalCurvedList"/>
    <dgm:cxn modelId="{8A7DFEA5-5D9D-4E45-A839-6A4B367B1FBB}" type="presParOf" srcId="{E77D6EAC-0217-44D6-88F1-CAE9CBE93141}" destId="{DBD8A5EE-5279-4F19-B6EA-6B8B1CACFA43}" srcOrd="1" destOrd="0" presId="urn:microsoft.com/office/officeart/2008/layout/VerticalCurvedList"/>
    <dgm:cxn modelId="{65B9EFD9-F85E-40D4-8363-C90C68428381}" type="presParOf" srcId="{E77D6EAC-0217-44D6-88F1-CAE9CBE93141}" destId="{B7CA300B-64DB-4B41-B51E-26EB631182D6}" srcOrd="2" destOrd="0" presId="urn:microsoft.com/office/officeart/2008/layout/VerticalCurvedList"/>
    <dgm:cxn modelId="{017C77E6-9D50-4BDC-87FC-9953801D88B5}" type="presParOf" srcId="{B7CA300B-64DB-4B41-B51E-26EB631182D6}" destId="{D6139D3A-5144-488D-92A1-3F839E6A97DA}" srcOrd="0" destOrd="0" presId="urn:microsoft.com/office/officeart/2008/layout/VerticalCurvedList"/>
    <dgm:cxn modelId="{2D2DEB6E-241D-4FD3-A7B2-C92AF5F6A729}" type="presParOf" srcId="{E77D6EAC-0217-44D6-88F1-CAE9CBE93141}" destId="{10616104-CFD3-4908-A8F1-9DDBEF67DE25}" srcOrd="3" destOrd="0" presId="urn:microsoft.com/office/officeart/2008/layout/VerticalCurvedList"/>
    <dgm:cxn modelId="{EEF73018-6CD4-4ACC-AADB-DC48C1F36338}" type="presParOf" srcId="{E77D6EAC-0217-44D6-88F1-CAE9CBE93141}" destId="{8A79E668-3D35-4CA8-BDA6-BF5E61975DBA}" srcOrd="4" destOrd="0" presId="urn:microsoft.com/office/officeart/2008/layout/VerticalCurvedList"/>
    <dgm:cxn modelId="{B3D27B08-30AE-4021-ACF8-C7A763B79C6F}" type="presParOf" srcId="{8A79E668-3D35-4CA8-BDA6-BF5E61975DBA}" destId="{7C32C14E-E2F4-457D-992C-328470A9DB57}" srcOrd="0" destOrd="0" presId="urn:microsoft.com/office/officeart/2008/layout/VerticalCurvedList"/>
    <dgm:cxn modelId="{3F8F4FB7-3C7B-4A81-B2E5-3F8EE3C7B57A}" type="presParOf" srcId="{E77D6EAC-0217-44D6-88F1-CAE9CBE93141}" destId="{2C811F89-05B5-4FF4-8739-5F517BB18E9E}" srcOrd="5" destOrd="0" presId="urn:microsoft.com/office/officeart/2008/layout/VerticalCurvedList"/>
    <dgm:cxn modelId="{F58AA92F-9004-492B-BF83-F6147C29437F}" type="presParOf" srcId="{E77D6EAC-0217-44D6-88F1-CAE9CBE93141}" destId="{FF7A6743-B749-4143-A14C-7437D145879A}" srcOrd="6" destOrd="0" presId="urn:microsoft.com/office/officeart/2008/layout/VerticalCurvedList"/>
    <dgm:cxn modelId="{FAA44B8B-C2F3-4322-A9BD-4110F8B31371}" type="presParOf" srcId="{FF7A6743-B749-4143-A14C-7437D145879A}" destId="{BF4687E3-E51A-4394-9EF4-3C1F1B2D0AB9}" srcOrd="0" destOrd="0" presId="urn:microsoft.com/office/officeart/2008/layout/VerticalCurvedList"/>
    <dgm:cxn modelId="{6D382472-B2BA-44E2-AB33-2A9A42DF2407}" type="presParOf" srcId="{E77D6EAC-0217-44D6-88F1-CAE9CBE93141}" destId="{577C06BD-5342-4E38-9B8C-3CF24EB50121}" srcOrd="7" destOrd="0" presId="urn:microsoft.com/office/officeart/2008/layout/VerticalCurvedList"/>
    <dgm:cxn modelId="{E2470DB9-985E-493B-99E4-4C04F55091A1}" type="presParOf" srcId="{E77D6EAC-0217-44D6-88F1-CAE9CBE93141}" destId="{06F8C129-091D-4744-847C-8F32A7E6D19B}" srcOrd="8" destOrd="0" presId="urn:microsoft.com/office/officeart/2008/layout/VerticalCurvedList"/>
    <dgm:cxn modelId="{662B8D63-B1D3-4D4A-8B00-3A48A69E2593}" type="presParOf" srcId="{06F8C129-091D-4744-847C-8F32A7E6D19B}" destId="{138F1837-1919-4D77-8851-141BB3450E9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1E4F9D-ACD2-4C3C-8E97-0EADD5FAD3A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144EB9C-AF0E-46A9-9EE4-748662EFC15D}">
      <dgm:prSet custT="1"/>
      <dgm:spPr>
        <a:solidFill>
          <a:schemeClr val="accent1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ru-RU" sz="2000" u="sng" dirty="0" smtClean="0">
              <a:solidFill>
                <a:schemeClr val="accent5"/>
              </a:solidFill>
            </a:rPr>
            <a:t>Возможность одновременно управлять несколькими проектами и командами</a:t>
          </a:r>
          <a:r>
            <a:rPr lang="ru-RU" sz="2000" dirty="0" smtClean="0">
              <a:solidFill>
                <a:schemeClr val="accent5"/>
              </a:solidFill>
            </a:rPr>
            <a:t> </a:t>
          </a:r>
          <a:r>
            <a:rPr lang="ru-RU" sz="2000" dirty="0" smtClean="0">
              <a:solidFill>
                <a:schemeClr val="tx2"/>
              </a:solidFill>
            </a:rPr>
            <a:t>(разработка, маркетинг, продажи).</a:t>
          </a:r>
          <a:endParaRPr lang="ru-RU" sz="2000" dirty="0">
            <a:solidFill>
              <a:schemeClr val="tx2"/>
            </a:solidFill>
          </a:endParaRPr>
        </a:p>
      </dgm:t>
    </dgm:pt>
    <dgm:pt modelId="{22C64EAC-176D-4112-91ED-9D888E6DF2DB}" type="parTrans" cxnId="{1A98527C-38B2-47EA-847F-4FC936664066}">
      <dgm:prSet/>
      <dgm:spPr/>
      <dgm:t>
        <a:bodyPr/>
        <a:lstStyle/>
        <a:p>
          <a:endParaRPr lang="ru-RU"/>
        </a:p>
      </dgm:t>
    </dgm:pt>
    <dgm:pt modelId="{2F6F6654-FCF9-44E5-9664-2C401A8E2842}" type="sibTrans" cxnId="{1A98527C-38B2-47EA-847F-4FC936664066}">
      <dgm:prSet/>
      <dgm:spPr/>
      <dgm:t>
        <a:bodyPr/>
        <a:lstStyle/>
        <a:p>
          <a:endParaRPr lang="ru-RU"/>
        </a:p>
      </dgm:t>
    </dgm:pt>
    <dgm:pt modelId="{3367FAFE-00EB-43F5-83AE-F23BE3339AA8}">
      <dgm:prSet custT="1"/>
      <dgm:spPr>
        <a:solidFill>
          <a:schemeClr val="accent1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ru-RU" sz="2000" u="sng" dirty="0" smtClean="0">
              <a:solidFill>
                <a:schemeClr val="accent5"/>
              </a:solidFill>
            </a:rPr>
            <a:t>Интеграцией с корпоративными системами</a:t>
          </a:r>
          <a:r>
            <a:rPr lang="ru-RU" sz="2000" dirty="0" smtClean="0">
              <a:solidFill>
                <a:schemeClr val="accent5"/>
              </a:solidFill>
            </a:rPr>
            <a:t>:</a:t>
          </a:r>
          <a:r>
            <a:rPr lang="ru-RU" sz="2000" dirty="0" smtClean="0"/>
            <a:t> </a:t>
          </a:r>
          <a:r>
            <a:rPr lang="ru-RU" sz="2000" dirty="0" smtClean="0">
              <a:solidFill>
                <a:schemeClr val="tx2"/>
              </a:solidFill>
            </a:rPr>
            <a:t>возможность подключения к ERP, CRM (например, 1С, </a:t>
          </a:r>
          <a:r>
            <a:rPr lang="ru-RU" sz="2000" dirty="0" err="1" smtClean="0">
              <a:solidFill>
                <a:schemeClr val="tx2"/>
              </a:solidFill>
            </a:rPr>
            <a:t>Salesforce</a:t>
          </a:r>
          <a:r>
            <a:rPr lang="ru-RU" sz="2000" dirty="0" smtClean="0">
              <a:solidFill>
                <a:schemeClr val="tx2"/>
              </a:solidFill>
            </a:rPr>
            <a:t>), бухгалтерским и HR-системам, а также API для автоматизации бизнес-процессов (синхронизация задач с почтой или CRM).</a:t>
          </a:r>
          <a:endParaRPr lang="ru-RU" sz="2000" dirty="0">
            <a:solidFill>
              <a:schemeClr val="tx2"/>
            </a:solidFill>
          </a:endParaRPr>
        </a:p>
      </dgm:t>
    </dgm:pt>
    <dgm:pt modelId="{C1A3BB81-AB21-42A3-8A2C-7DEE52D578EC}" type="parTrans" cxnId="{7AFD143E-952D-42DC-A13B-5C99BAD94D64}">
      <dgm:prSet/>
      <dgm:spPr/>
      <dgm:t>
        <a:bodyPr/>
        <a:lstStyle/>
        <a:p>
          <a:endParaRPr lang="ru-RU"/>
        </a:p>
      </dgm:t>
    </dgm:pt>
    <dgm:pt modelId="{07F3F719-B246-4D16-8420-87550FA04F97}" type="sibTrans" cxnId="{7AFD143E-952D-42DC-A13B-5C99BAD94D64}">
      <dgm:prSet/>
      <dgm:spPr/>
      <dgm:t>
        <a:bodyPr/>
        <a:lstStyle/>
        <a:p>
          <a:endParaRPr lang="ru-RU"/>
        </a:p>
      </dgm:t>
    </dgm:pt>
    <dgm:pt modelId="{0EFD588A-EDFD-4C2D-8FA6-F3A3B0B70360}">
      <dgm:prSet custT="1"/>
      <dgm:spPr>
        <a:solidFill>
          <a:schemeClr val="accent1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ru-RU" sz="2000" u="sng" dirty="0" smtClean="0">
              <a:solidFill>
                <a:schemeClr val="accent5"/>
              </a:solidFill>
            </a:rPr>
            <a:t>Поддержка разных методологий управления</a:t>
          </a:r>
          <a:r>
            <a:rPr lang="ru-RU" sz="2000" dirty="0" smtClean="0">
              <a:solidFill>
                <a:schemeClr val="accent5"/>
              </a:solidFill>
            </a:rPr>
            <a:t>: </a:t>
          </a:r>
          <a:r>
            <a:rPr lang="ru-RU" sz="2000" dirty="0" err="1" smtClean="0">
              <a:solidFill>
                <a:schemeClr val="tx2"/>
              </a:solidFill>
            </a:rPr>
            <a:t>Agile</a:t>
          </a:r>
          <a:r>
            <a:rPr lang="ru-RU" sz="2000" dirty="0" smtClean="0">
              <a:solidFill>
                <a:schemeClr val="tx2"/>
              </a:solidFill>
            </a:rPr>
            <a:t> (гибкие методики </a:t>
          </a:r>
          <a:r>
            <a:rPr lang="ru-RU" sz="2000" dirty="0" err="1" smtClean="0">
              <a:solidFill>
                <a:schemeClr val="tx2"/>
              </a:solidFill>
            </a:rPr>
            <a:t>Scrum</a:t>
          </a:r>
          <a:r>
            <a:rPr lang="ru-RU" sz="2000" dirty="0" smtClean="0">
              <a:solidFill>
                <a:schemeClr val="tx2"/>
              </a:solidFill>
            </a:rPr>
            <a:t>, </a:t>
          </a:r>
          <a:r>
            <a:rPr lang="ru-RU" sz="2000" dirty="0" err="1" smtClean="0">
              <a:solidFill>
                <a:schemeClr val="tx2"/>
              </a:solidFill>
            </a:rPr>
            <a:t>Kanban</a:t>
          </a:r>
          <a:r>
            <a:rPr lang="ru-RU" sz="2000" dirty="0" smtClean="0">
              <a:solidFill>
                <a:schemeClr val="tx2"/>
              </a:solidFill>
            </a:rPr>
            <a:t>) + классическое управление (</a:t>
          </a:r>
          <a:r>
            <a:rPr lang="ru-RU" sz="2000" dirty="0" err="1" smtClean="0">
              <a:solidFill>
                <a:schemeClr val="tx2"/>
              </a:solidFill>
            </a:rPr>
            <a:t>Waterfall</a:t>
          </a:r>
          <a:r>
            <a:rPr lang="ru-RU" sz="2000" dirty="0" smtClean="0">
              <a:solidFill>
                <a:schemeClr val="tx2"/>
              </a:solidFill>
            </a:rPr>
            <a:t>).</a:t>
          </a:r>
          <a:endParaRPr lang="ru-RU" sz="2000" dirty="0">
            <a:solidFill>
              <a:schemeClr val="tx2"/>
            </a:solidFill>
          </a:endParaRPr>
        </a:p>
      </dgm:t>
    </dgm:pt>
    <dgm:pt modelId="{6E7253A4-5A57-45CA-98DA-741E397FC600}" type="parTrans" cxnId="{27AA5CD5-0AF9-4669-98FD-72A029E9F248}">
      <dgm:prSet/>
      <dgm:spPr/>
      <dgm:t>
        <a:bodyPr/>
        <a:lstStyle/>
        <a:p>
          <a:endParaRPr lang="ru-RU"/>
        </a:p>
      </dgm:t>
    </dgm:pt>
    <dgm:pt modelId="{131952C3-20FF-4BD9-81FB-C77AA77E00EA}" type="sibTrans" cxnId="{27AA5CD5-0AF9-4669-98FD-72A029E9F248}">
      <dgm:prSet/>
      <dgm:spPr/>
      <dgm:t>
        <a:bodyPr/>
        <a:lstStyle/>
        <a:p>
          <a:endParaRPr lang="ru-RU"/>
        </a:p>
      </dgm:t>
    </dgm:pt>
    <dgm:pt modelId="{58CF64D3-9DFE-4141-BD79-63D9E6ABCF51}">
      <dgm:prSet custT="1"/>
      <dgm:spPr>
        <a:solidFill>
          <a:schemeClr val="accent1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ru-RU" sz="2000" u="sng" dirty="0" smtClean="0">
              <a:solidFill>
                <a:schemeClr val="accent5"/>
              </a:solidFill>
            </a:rPr>
            <a:t>Техподдержка</a:t>
          </a:r>
          <a:r>
            <a:rPr lang="ru-RU" sz="2000" dirty="0" smtClean="0">
              <a:solidFill>
                <a:schemeClr val="accent5"/>
              </a:solidFill>
            </a:rPr>
            <a:t>: </a:t>
          </a:r>
          <a:r>
            <a:rPr lang="ru-RU" sz="2000" dirty="0" smtClean="0">
              <a:solidFill>
                <a:schemeClr val="tx2"/>
              </a:solidFill>
            </a:rPr>
            <a:t>персональный менеджер или быстрое реагирование техподдержки, а также обучение сотрудников (</a:t>
          </a:r>
          <a:r>
            <a:rPr lang="ru-RU" sz="2000" dirty="0" err="1" smtClean="0">
              <a:solidFill>
                <a:schemeClr val="tx2"/>
              </a:solidFill>
            </a:rPr>
            <a:t>вебинары</a:t>
          </a:r>
          <a:r>
            <a:rPr lang="ru-RU" sz="2000" dirty="0" smtClean="0">
              <a:solidFill>
                <a:schemeClr val="tx2"/>
              </a:solidFill>
            </a:rPr>
            <a:t>, инструкции, </a:t>
          </a:r>
          <a:r>
            <a:rPr lang="ru-RU" sz="2000" dirty="0" err="1" smtClean="0">
              <a:solidFill>
                <a:schemeClr val="tx2"/>
              </a:solidFill>
            </a:rPr>
            <a:t>onboarding</a:t>
          </a:r>
          <a:r>
            <a:rPr lang="ru-RU" sz="2000" dirty="0" smtClean="0">
              <a:solidFill>
                <a:schemeClr val="tx2"/>
              </a:solidFill>
            </a:rPr>
            <a:t>).</a:t>
          </a:r>
          <a:endParaRPr lang="ru-RU" sz="2000" dirty="0">
            <a:solidFill>
              <a:schemeClr val="tx2"/>
            </a:solidFill>
          </a:endParaRPr>
        </a:p>
      </dgm:t>
    </dgm:pt>
    <dgm:pt modelId="{86DA861F-0899-4D89-8051-896151448E39}" type="parTrans" cxnId="{0A0A59B1-E340-44D5-951B-1D1F509B9450}">
      <dgm:prSet/>
      <dgm:spPr/>
      <dgm:t>
        <a:bodyPr/>
        <a:lstStyle/>
        <a:p>
          <a:endParaRPr lang="ru-RU"/>
        </a:p>
      </dgm:t>
    </dgm:pt>
    <dgm:pt modelId="{552E238B-1FF9-4E30-B64E-9E21B2F81258}" type="sibTrans" cxnId="{0A0A59B1-E340-44D5-951B-1D1F509B9450}">
      <dgm:prSet/>
      <dgm:spPr/>
      <dgm:t>
        <a:bodyPr/>
        <a:lstStyle/>
        <a:p>
          <a:endParaRPr lang="ru-RU"/>
        </a:p>
      </dgm:t>
    </dgm:pt>
    <dgm:pt modelId="{6E19A34B-08EF-4A44-8C99-D1CA86B983C6}" type="pres">
      <dgm:prSet presAssocID="{7F1E4F9D-ACD2-4C3C-8E97-0EADD5FAD3A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787609B0-C2FF-4DBF-9A53-464DF3A80C55}" type="pres">
      <dgm:prSet presAssocID="{7F1E4F9D-ACD2-4C3C-8E97-0EADD5FAD3AA}" presName="Name1" presStyleCnt="0"/>
      <dgm:spPr/>
    </dgm:pt>
    <dgm:pt modelId="{E16B70A5-4CA0-4D5B-8C22-336F2D7CCEAA}" type="pres">
      <dgm:prSet presAssocID="{7F1E4F9D-ACD2-4C3C-8E97-0EADD5FAD3AA}" presName="cycle" presStyleCnt="0"/>
      <dgm:spPr/>
    </dgm:pt>
    <dgm:pt modelId="{6B317A57-72DA-4FEF-9F09-6876EAAAEED0}" type="pres">
      <dgm:prSet presAssocID="{7F1E4F9D-ACD2-4C3C-8E97-0EADD5FAD3AA}" presName="srcNode" presStyleLbl="node1" presStyleIdx="0" presStyleCnt="4"/>
      <dgm:spPr/>
    </dgm:pt>
    <dgm:pt modelId="{1D5A50C7-4F59-4532-9351-CB46A55D9993}" type="pres">
      <dgm:prSet presAssocID="{7F1E4F9D-ACD2-4C3C-8E97-0EADD5FAD3AA}" presName="conn" presStyleLbl="parChTrans1D2" presStyleIdx="0" presStyleCnt="1"/>
      <dgm:spPr/>
      <dgm:t>
        <a:bodyPr/>
        <a:lstStyle/>
        <a:p>
          <a:endParaRPr lang="ru-RU"/>
        </a:p>
      </dgm:t>
    </dgm:pt>
    <dgm:pt modelId="{1A2FC517-093E-4335-A9BC-DBE66A19A11D}" type="pres">
      <dgm:prSet presAssocID="{7F1E4F9D-ACD2-4C3C-8E97-0EADD5FAD3AA}" presName="extraNode" presStyleLbl="node1" presStyleIdx="0" presStyleCnt="4"/>
      <dgm:spPr/>
    </dgm:pt>
    <dgm:pt modelId="{CD8235EC-6F47-4154-8073-DA8CD71FADC9}" type="pres">
      <dgm:prSet presAssocID="{7F1E4F9D-ACD2-4C3C-8E97-0EADD5FAD3AA}" presName="dstNode" presStyleLbl="node1" presStyleIdx="0" presStyleCnt="4"/>
      <dgm:spPr/>
    </dgm:pt>
    <dgm:pt modelId="{82AD754D-B0B3-42E6-9445-1C0533A3FC59}" type="pres">
      <dgm:prSet presAssocID="{D144EB9C-AF0E-46A9-9EE4-748662EFC15D}" presName="text_1" presStyleLbl="node1" presStyleIdx="0" presStyleCnt="4" custScaleY="9404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7D286D-025E-4101-BE10-EEC2F62636CE}" type="pres">
      <dgm:prSet presAssocID="{D144EB9C-AF0E-46A9-9EE4-748662EFC15D}" presName="accent_1" presStyleCnt="0"/>
      <dgm:spPr/>
    </dgm:pt>
    <dgm:pt modelId="{655B6252-1A42-4A23-A8F5-73178FE1E348}" type="pres">
      <dgm:prSet presAssocID="{D144EB9C-AF0E-46A9-9EE4-748662EFC15D}" presName="accentRepeatNode" presStyleLbl="solidFgAcc1" presStyleIdx="0" presStyleCnt="4"/>
      <dgm:spPr>
        <a:solidFill>
          <a:schemeClr val="tx2"/>
        </a:solidFill>
        <a:ln>
          <a:solidFill>
            <a:schemeClr val="accent1"/>
          </a:solidFill>
        </a:ln>
      </dgm:spPr>
    </dgm:pt>
    <dgm:pt modelId="{050B2792-31A0-478C-BAEC-0F7FBF9389A7}" type="pres">
      <dgm:prSet presAssocID="{3367FAFE-00EB-43F5-83AE-F23BE3339AA8}" presName="text_2" presStyleLbl="node1" presStyleIdx="1" presStyleCnt="4" custScaleY="12934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79FFF23-EFED-4B5E-B475-B7209BF85EF8}" type="pres">
      <dgm:prSet presAssocID="{3367FAFE-00EB-43F5-83AE-F23BE3339AA8}" presName="accent_2" presStyleCnt="0"/>
      <dgm:spPr/>
    </dgm:pt>
    <dgm:pt modelId="{36A3A9B1-D41F-46EB-8EE8-1B7DE403B50E}" type="pres">
      <dgm:prSet presAssocID="{3367FAFE-00EB-43F5-83AE-F23BE3339AA8}" presName="accentRepeatNode" presStyleLbl="solidFgAcc1" presStyleIdx="1" presStyleCnt="4"/>
      <dgm:spPr>
        <a:solidFill>
          <a:schemeClr val="tx2"/>
        </a:solidFill>
        <a:ln>
          <a:solidFill>
            <a:schemeClr val="accent1"/>
          </a:solidFill>
        </a:ln>
      </dgm:spPr>
    </dgm:pt>
    <dgm:pt modelId="{32243486-C10F-4F6F-8C6F-1E0CDFBA9D85}" type="pres">
      <dgm:prSet presAssocID="{0EFD588A-EDFD-4C2D-8FA6-F3A3B0B70360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D6FBF8-B2DF-46F1-861D-AF5BC5D69AB3}" type="pres">
      <dgm:prSet presAssocID="{0EFD588A-EDFD-4C2D-8FA6-F3A3B0B70360}" presName="accent_3" presStyleCnt="0"/>
      <dgm:spPr/>
    </dgm:pt>
    <dgm:pt modelId="{5FB0C0CA-9CE9-4256-83C8-D3B86DEA296E}" type="pres">
      <dgm:prSet presAssocID="{0EFD588A-EDFD-4C2D-8FA6-F3A3B0B70360}" presName="accentRepeatNode" presStyleLbl="solidFgAcc1" presStyleIdx="2" presStyleCnt="4"/>
      <dgm:spPr>
        <a:solidFill>
          <a:schemeClr val="tx2"/>
        </a:solidFill>
        <a:ln>
          <a:solidFill>
            <a:schemeClr val="accent1"/>
          </a:solidFill>
        </a:ln>
      </dgm:spPr>
    </dgm:pt>
    <dgm:pt modelId="{96AB6769-B645-45EA-8545-8C4A21DC4627}" type="pres">
      <dgm:prSet presAssocID="{58CF64D3-9DFE-4141-BD79-63D9E6ABCF51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665D665-1796-4E29-81E5-91E7EF9C47BC}" type="pres">
      <dgm:prSet presAssocID="{58CF64D3-9DFE-4141-BD79-63D9E6ABCF51}" presName="accent_4" presStyleCnt="0"/>
      <dgm:spPr/>
    </dgm:pt>
    <dgm:pt modelId="{8570D749-0D73-40C9-898D-2B89FAB1CF71}" type="pres">
      <dgm:prSet presAssocID="{58CF64D3-9DFE-4141-BD79-63D9E6ABCF51}" presName="accentRepeatNode" presStyleLbl="solidFgAcc1" presStyleIdx="3" presStyleCnt="4"/>
      <dgm:spPr>
        <a:solidFill>
          <a:schemeClr val="tx2"/>
        </a:solidFill>
        <a:ln>
          <a:solidFill>
            <a:schemeClr val="accent1"/>
          </a:solidFill>
        </a:ln>
      </dgm:spPr>
    </dgm:pt>
  </dgm:ptLst>
  <dgm:cxnLst>
    <dgm:cxn modelId="{0A0A59B1-E340-44D5-951B-1D1F509B9450}" srcId="{7F1E4F9D-ACD2-4C3C-8E97-0EADD5FAD3AA}" destId="{58CF64D3-9DFE-4141-BD79-63D9E6ABCF51}" srcOrd="3" destOrd="0" parTransId="{86DA861F-0899-4D89-8051-896151448E39}" sibTransId="{552E238B-1FF9-4E30-B64E-9E21B2F81258}"/>
    <dgm:cxn modelId="{B0895B39-B0B4-4EAE-BCA1-B00E8B78EDD8}" type="presOf" srcId="{0EFD588A-EDFD-4C2D-8FA6-F3A3B0B70360}" destId="{32243486-C10F-4F6F-8C6F-1E0CDFBA9D85}" srcOrd="0" destOrd="0" presId="urn:microsoft.com/office/officeart/2008/layout/VerticalCurvedList"/>
    <dgm:cxn modelId="{ACDA8734-1E30-4A87-B0F4-DFE0D3DB846C}" type="presOf" srcId="{3367FAFE-00EB-43F5-83AE-F23BE3339AA8}" destId="{050B2792-31A0-478C-BAEC-0F7FBF9389A7}" srcOrd="0" destOrd="0" presId="urn:microsoft.com/office/officeart/2008/layout/VerticalCurvedList"/>
    <dgm:cxn modelId="{27AA5CD5-0AF9-4669-98FD-72A029E9F248}" srcId="{7F1E4F9D-ACD2-4C3C-8E97-0EADD5FAD3AA}" destId="{0EFD588A-EDFD-4C2D-8FA6-F3A3B0B70360}" srcOrd="2" destOrd="0" parTransId="{6E7253A4-5A57-45CA-98DA-741E397FC600}" sibTransId="{131952C3-20FF-4BD9-81FB-C77AA77E00EA}"/>
    <dgm:cxn modelId="{7AFD143E-952D-42DC-A13B-5C99BAD94D64}" srcId="{7F1E4F9D-ACD2-4C3C-8E97-0EADD5FAD3AA}" destId="{3367FAFE-00EB-43F5-83AE-F23BE3339AA8}" srcOrd="1" destOrd="0" parTransId="{C1A3BB81-AB21-42A3-8A2C-7DEE52D578EC}" sibTransId="{07F3F719-B246-4D16-8420-87550FA04F97}"/>
    <dgm:cxn modelId="{1A98527C-38B2-47EA-847F-4FC936664066}" srcId="{7F1E4F9D-ACD2-4C3C-8E97-0EADD5FAD3AA}" destId="{D144EB9C-AF0E-46A9-9EE4-748662EFC15D}" srcOrd="0" destOrd="0" parTransId="{22C64EAC-176D-4112-91ED-9D888E6DF2DB}" sibTransId="{2F6F6654-FCF9-44E5-9664-2C401A8E2842}"/>
    <dgm:cxn modelId="{2FBEC5A2-9013-4384-ACCF-E375559B9DC0}" type="presOf" srcId="{58CF64D3-9DFE-4141-BD79-63D9E6ABCF51}" destId="{96AB6769-B645-45EA-8545-8C4A21DC4627}" srcOrd="0" destOrd="0" presId="urn:microsoft.com/office/officeart/2008/layout/VerticalCurvedList"/>
    <dgm:cxn modelId="{8995E2CB-8E7B-4BD7-800D-4D3456E33E9C}" type="presOf" srcId="{D144EB9C-AF0E-46A9-9EE4-748662EFC15D}" destId="{82AD754D-B0B3-42E6-9445-1C0533A3FC59}" srcOrd="0" destOrd="0" presId="urn:microsoft.com/office/officeart/2008/layout/VerticalCurvedList"/>
    <dgm:cxn modelId="{616CEA15-5F58-4C6A-AA27-C57B0C001C3B}" type="presOf" srcId="{7F1E4F9D-ACD2-4C3C-8E97-0EADD5FAD3AA}" destId="{6E19A34B-08EF-4A44-8C99-D1CA86B983C6}" srcOrd="0" destOrd="0" presId="urn:microsoft.com/office/officeart/2008/layout/VerticalCurvedList"/>
    <dgm:cxn modelId="{A68155F2-468C-4C67-9B93-8EC90BEDDC1F}" type="presOf" srcId="{2F6F6654-FCF9-44E5-9664-2C401A8E2842}" destId="{1D5A50C7-4F59-4532-9351-CB46A55D9993}" srcOrd="0" destOrd="0" presId="urn:microsoft.com/office/officeart/2008/layout/VerticalCurvedList"/>
    <dgm:cxn modelId="{59C494E5-13B7-4319-98AD-31338DC3AB64}" type="presParOf" srcId="{6E19A34B-08EF-4A44-8C99-D1CA86B983C6}" destId="{787609B0-C2FF-4DBF-9A53-464DF3A80C55}" srcOrd="0" destOrd="0" presId="urn:microsoft.com/office/officeart/2008/layout/VerticalCurvedList"/>
    <dgm:cxn modelId="{81C2FF4A-2D0D-4196-AC3D-B712370885D0}" type="presParOf" srcId="{787609B0-C2FF-4DBF-9A53-464DF3A80C55}" destId="{E16B70A5-4CA0-4D5B-8C22-336F2D7CCEAA}" srcOrd="0" destOrd="0" presId="urn:microsoft.com/office/officeart/2008/layout/VerticalCurvedList"/>
    <dgm:cxn modelId="{D2916F11-03DA-4CD0-BE97-35C3306C3608}" type="presParOf" srcId="{E16B70A5-4CA0-4D5B-8C22-336F2D7CCEAA}" destId="{6B317A57-72DA-4FEF-9F09-6876EAAAEED0}" srcOrd="0" destOrd="0" presId="urn:microsoft.com/office/officeart/2008/layout/VerticalCurvedList"/>
    <dgm:cxn modelId="{C826C8AB-0FBC-4C6F-B051-0D5A201E730F}" type="presParOf" srcId="{E16B70A5-4CA0-4D5B-8C22-336F2D7CCEAA}" destId="{1D5A50C7-4F59-4532-9351-CB46A55D9993}" srcOrd="1" destOrd="0" presId="urn:microsoft.com/office/officeart/2008/layout/VerticalCurvedList"/>
    <dgm:cxn modelId="{C71E5813-A2AC-4E3F-9C9E-38CCF4738A2E}" type="presParOf" srcId="{E16B70A5-4CA0-4D5B-8C22-336F2D7CCEAA}" destId="{1A2FC517-093E-4335-A9BC-DBE66A19A11D}" srcOrd="2" destOrd="0" presId="urn:microsoft.com/office/officeart/2008/layout/VerticalCurvedList"/>
    <dgm:cxn modelId="{A29347E3-D55C-4EF7-AC66-2157F7E6D207}" type="presParOf" srcId="{E16B70A5-4CA0-4D5B-8C22-336F2D7CCEAA}" destId="{CD8235EC-6F47-4154-8073-DA8CD71FADC9}" srcOrd="3" destOrd="0" presId="urn:microsoft.com/office/officeart/2008/layout/VerticalCurvedList"/>
    <dgm:cxn modelId="{8471FF81-63D8-4FC9-A57D-FA94F5D4C1B8}" type="presParOf" srcId="{787609B0-C2FF-4DBF-9A53-464DF3A80C55}" destId="{82AD754D-B0B3-42E6-9445-1C0533A3FC59}" srcOrd="1" destOrd="0" presId="urn:microsoft.com/office/officeart/2008/layout/VerticalCurvedList"/>
    <dgm:cxn modelId="{CF9DDD05-7946-471C-8E20-236A46DC8AA3}" type="presParOf" srcId="{787609B0-C2FF-4DBF-9A53-464DF3A80C55}" destId="{087D286D-025E-4101-BE10-EEC2F62636CE}" srcOrd="2" destOrd="0" presId="urn:microsoft.com/office/officeart/2008/layout/VerticalCurvedList"/>
    <dgm:cxn modelId="{1533AE43-5306-4B92-A016-913F46C18DFF}" type="presParOf" srcId="{087D286D-025E-4101-BE10-EEC2F62636CE}" destId="{655B6252-1A42-4A23-A8F5-73178FE1E348}" srcOrd="0" destOrd="0" presId="urn:microsoft.com/office/officeart/2008/layout/VerticalCurvedList"/>
    <dgm:cxn modelId="{EFA03F5F-6C86-43CC-B99B-FD2F6133BF1E}" type="presParOf" srcId="{787609B0-C2FF-4DBF-9A53-464DF3A80C55}" destId="{050B2792-31A0-478C-BAEC-0F7FBF9389A7}" srcOrd="3" destOrd="0" presId="urn:microsoft.com/office/officeart/2008/layout/VerticalCurvedList"/>
    <dgm:cxn modelId="{23EC1F37-FC1F-4C7E-83C8-39B0AB00130D}" type="presParOf" srcId="{787609B0-C2FF-4DBF-9A53-464DF3A80C55}" destId="{C79FFF23-EFED-4B5E-B475-B7209BF85EF8}" srcOrd="4" destOrd="0" presId="urn:microsoft.com/office/officeart/2008/layout/VerticalCurvedList"/>
    <dgm:cxn modelId="{389FAA2A-5D6B-4BB4-A216-40041DC88BCD}" type="presParOf" srcId="{C79FFF23-EFED-4B5E-B475-B7209BF85EF8}" destId="{36A3A9B1-D41F-46EB-8EE8-1B7DE403B50E}" srcOrd="0" destOrd="0" presId="urn:microsoft.com/office/officeart/2008/layout/VerticalCurvedList"/>
    <dgm:cxn modelId="{5321CB8F-B95E-4922-8C54-5C4A4926E902}" type="presParOf" srcId="{787609B0-C2FF-4DBF-9A53-464DF3A80C55}" destId="{32243486-C10F-4F6F-8C6F-1E0CDFBA9D85}" srcOrd="5" destOrd="0" presId="urn:microsoft.com/office/officeart/2008/layout/VerticalCurvedList"/>
    <dgm:cxn modelId="{94A9D27A-F65A-4EB4-9D32-532FBEA8D5B1}" type="presParOf" srcId="{787609B0-C2FF-4DBF-9A53-464DF3A80C55}" destId="{70D6FBF8-B2DF-46F1-861D-AF5BC5D69AB3}" srcOrd="6" destOrd="0" presId="urn:microsoft.com/office/officeart/2008/layout/VerticalCurvedList"/>
    <dgm:cxn modelId="{EED2C3DF-B047-4487-B08A-466627ABEF25}" type="presParOf" srcId="{70D6FBF8-B2DF-46F1-861D-AF5BC5D69AB3}" destId="{5FB0C0CA-9CE9-4256-83C8-D3B86DEA296E}" srcOrd="0" destOrd="0" presId="urn:microsoft.com/office/officeart/2008/layout/VerticalCurvedList"/>
    <dgm:cxn modelId="{04469C7D-7BEA-443B-938B-ED08ABA536B4}" type="presParOf" srcId="{787609B0-C2FF-4DBF-9A53-464DF3A80C55}" destId="{96AB6769-B645-45EA-8545-8C4A21DC4627}" srcOrd="7" destOrd="0" presId="urn:microsoft.com/office/officeart/2008/layout/VerticalCurvedList"/>
    <dgm:cxn modelId="{B71161F8-D846-411E-A736-02162528A6F3}" type="presParOf" srcId="{787609B0-C2FF-4DBF-9A53-464DF3A80C55}" destId="{8665D665-1796-4E29-81E5-91E7EF9C47BC}" srcOrd="8" destOrd="0" presId="urn:microsoft.com/office/officeart/2008/layout/VerticalCurvedList"/>
    <dgm:cxn modelId="{91D36AE5-C746-4C78-AC8E-A9981BABD327}" type="presParOf" srcId="{8665D665-1796-4E29-81E5-91E7EF9C47BC}" destId="{8570D749-0D73-40C9-898D-2B89FAB1CF7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2A9D82-6D34-43B1-A9E8-817AA2614F6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62B76FF-F4A5-4AF4-A8E3-945DCA6D7722}">
      <dgm:prSet/>
      <dgm:spPr>
        <a:solidFill>
          <a:schemeClr val="accent1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ru-RU" u="sng" dirty="0" smtClean="0">
              <a:solidFill>
                <a:schemeClr val="accent5"/>
              </a:solidFill>
            </a:rPr>
            <a:t>Безопасность и </a:t>
          </a:r>
          <a:r>
            <a:rPr lang="ru-RU" u="sng" dirty="0" err="1" smtClean="0">
              <a:solidFill>
                <a:schemeClr val="accent5"/>
              </a:solidFill>
            </a:rPr>
            <a:t>комплаенс</a:t>
          </a:r>
          <a:r>
            <a:rPr lang="ru-RU" dirty="0" smtClean="0">
              <a:solidFill>
                <a:schemeClr val="accent5"/>
              </a:solidFill>
            </a:rPr>
            <a:t>: </a:t>
          </a:r>
          <a:r>
            <a:rPr lang="ru-RU" dirty="0" smtClean="0"/>
            <a:t>сертификация, шифрование данных, </a:t>
          </a:r>
          <a:r>
            <a:rPr lang="ru-RU" dirty="0" err="1" smtClean="0"/>
            <a:t>адуит</a:t>
          </a:r>
          <a:r>
            <a:rPr lang="ru-RU" dirty="0" smtClean="0"/>
            <a:t> действий (кто, когда и что изменил).</a:t>
          </a:r>
          <a:endParaRPr lang="ru-RU" dirty="0"/>
        </a:p>
      </dgm:t>
    </dgm:pt>
    <dgm:pt modelId="{24FFC012-51BD-457A-9F82-64462C9B825A}" type="parTrans" cxnId="{ECB54302-8554-4485-8900-61616B194B03}">
      <dgm:prSet/>
      <dgm:spPr/>
      <dgm:t>
        <a:bodyPr/>
        <a:lstStyle/>
        <a:p>
          <a:endParaRPr lang="ru-RU"/>
        </a:p>
      </dgm:t>
    </dgm:pt>
    <dgm:pt modelId="{53059C22-272A-4FA1-8C74-170ED9989BF3}" type="sibTrans" cxnId="{ECB54302-8554-4485-8900-61616B194B03}">
      <dgm:prSet/>
      <dgm:spPr/>
      <dgm:t>
        <a:bodyPr/>
        <a:lstStyle/>
        <a:p>
          <a:endParaRPr lang="ru-RU"/>
        </a:p>
      </dgm:t>
    </dgm:pt>
    <dgm:pt modelId="{3508BAB5-30D4-4836-B614-CEC247BF8647}">
      <dgm:prSet/>
      <dgm:spPr>
        <a:solidFill>
          <a:schemeClr val="accent1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ru-RU" u="sng" dirty="0" err="1" smtClean="0">
              <a:solidFill>
                <a:schemeClr val="accent5"/>
              </a:solidFill>
            </a:rPr>
            <a:t>Мультирегиональность</a:t>
          </a:r>
          <a:r>
            <a:rPr lang="ru-RU" dirty="0" smtClean="0">
              <a:solidFill>
                <a:schemeClr val="accent5"/>
              </a:solidFill>
            </a:rPr>
            <a:t>: </a:t>
          </a:r>
          <a:r>
            <a:rPr lang="ru-RU" dirty="0" smtClean="0"/>
            <a:t>возможность поддержки десятков тысяч пользователей из разных стран и временных зон, отсюда локализация интерфейса, валют.</a:t>
          </a:r>
          <a:endParaRPr lang="ru-RU" dirty="0"/>
        </a:p>
      </dgm:t>
    </dgm:pt>
    <dgm:pt modelId="{148FC4C3-556A-4C17-B8AB-6182FEAB9D70}" type="parTrans" cxnId="{4F0D7A8F-1A57-45BE-B93F-E05813D0BE04}">
      <dgm:prSet/>
      <dgm:spPr/>
      <dgm:t>
        <a:bodyPr/>
        <a:lstStyle/>
        <a:p>
          <a:endParaRPr lang="ru-RU"/>
        </a:p>
      </dgm:t>
    </dgm:pt>
    <dgm:pt modelId="{D95ED369-6AB4-468C-B48A-1FB5A8E90178}" type="sibTrans" cxnId="{4F0D7A8F-1A57-45BE-B93F-E05813D0BE04}">
      <dgm:prSet/>
      <dgm:spPr/>
      <dgm:t>
        <a:bodyPr/>
        <a:lstStyle/>
        <a:p>
          <a:endParaRPr lang="ru-RU"/>
        </a:p>
      </dgm:t>
    </dgm:pt>
    <dgm:pt modelId="{6CEE240F-01F0-4359-BD4A-D81A2C9EC689}">
      <dgm:prSet/>
      <dgm:spPr>
        <a:solidFill>
          <a:schemeClr val="accent1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ru-RU" u="sng" dirty="0" smtClean="0">
              <a:solidFill>
                <a:schemeClr val="accent5"/>
              </a:solidFill>
            </a:rPr>
            <a:t>Возможность управления сложными проектами</a:t>
          </a:r>
          <a:r>
            <a:rPr lang="ru-RU" dirty="0" smtClean="0">
              <a:solidFill>
                <a:schemeClr val="accent5"/>
              </a:solidFill>
            </a:rPr>
            <a:t>: </a:t>
          </a:r>
          <a:r>
            <a:rPr lang="ru-RU" dirty="0" smtClean="0"/>
            <a:t>прогнозирования сроков и бюджета, </a:t>
          </a:r>
          <a:r>
            <a:rPr lang="ru-RU" dirty="0" err="1" smtClean="0"/>
            <a:t>приоритизация</a:t>
          </a:r>
          <a:r>
            <a:rPr lang="ru-RU" dirty="0" smtClean="0"/>
            <a:t> проектов для распределения ресурсов.</a:t>
          </a:r>
          <a:endParaRPr lang="ru-RU" dirty="0"/>
        </a:p>
      </dgm:t>
    </dgm:pt>
    <dgm:pt modelId="{D7525739-1C95-4D2D-9FEC-2290460C63D1}" type="parTrans" cxnId="{C9CBD283-A031-43FA-982E-2CBF4825BBB2}">
      <dgm:prSet/>
      <dgm:spPr/>
      <dgm:t>
        <a:bodyPr/>
        <a:lstStyle/>
        <a:p>
          <a:endParaRPr lang="ru-RU"/>
        </a:p>
      </dgm:t>
    </dgm:pt>
    <dgm:pt modelId="{3288479E-BFFA-4C37-AFA0-5E911A08A3B5}" type="sibTrans" cxnId="{C9CBD283-A031-43FA-982E-2CBF4825BBB2}">
      <dgm:prSet/>
      <dgm:spPr/>
      <dgm:t>
        <a:bodyPr/>
        <a:lstStyle/>
        <a:p>
          <a:endParaRPr lang="ru-RU"/>
        </a:p>
      </dgm:t>
    </dgm:pt>
    <dgm:pt modelId="{DB9007DF-2314-4134-A007-F351B8E5B01C}">
      <dgm:prSet/>
      <dgm:spPr>
        <a:solidFill>
          <a:schemeClr val="accent1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ru-RU" u="sng" dirty="0" smtClean="0">
              <a:solidFill>
                <a:schemeClr val="accent5"/>
              </a:solidFill>
            </a:rPr>
            <a:t>ИИ</a:t>
          </a:r>
          <a:r>
            <a:rPr lang="ru-RU" dirty="0" smtClean="0">
              <a:solidFill>
                <a:schemeClr val="accent5"/>
              </a:solidFill>
            </a:rPr>
            <a:t>: </a:t>
          </a:r>
          <a:r>
            <a:rPr lang="ru-RU" dirty="0" smtClean="0"/>
            <a:t>прогнозная аналитика (искусственный интеллект для оценки сроков), автоматизация отчетов (ежемесячные KPI).</a:t>
          </a:r>
          <a:endParaRPr lang="ru-RU" dirty="0"/>
        </a:p>
      </dgm:t>
    </dgm:pt>
    <dgm:pt modelId="{A66437FC-A750-41C5-8281-04372091C9A3}" type="parTrans" cxnId="{DC7C725B-E8AF-4795-8E81-59CB221582C4}">
      <dgm:prSet/>
      <dgm:spPr/>
      <dgm:t>
        <a:bodyPr/>
        <a:lstStyle/>
        <a:p>
          <a:endParaRPr lang="ru-RU"/>
        </a:p>
      </dgm:t>
    </dgm:pt>
    <dgm:pt modelId="{6CE50652-3F9C-4249-A8B9-45838C82CF28}" type="sibTrans" cxnId="{DC7C725B-E8AF-4795-8E81-59CB221582C4}">
      <dgm:prSet/>
      <dgm:spPr/>
      <dgm:t>
        <a:bodyPr/>
        <a:lstStyle/>
        <a:p>
          <a:endParaRPr lang="ru-RU"/>
        </a:p>
      </dgm:t>
    </dgm:pt>
    <dgm:pt modelId="{E1F1D04E-1EBB-4ABF-984D-90C6A2CB7705}" type="pres">
      <dgm:prSet presAssocID="{DB2A9D82-6D34-43B1-A9E8-817AA2614F67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2F5E49D6-772F-438D-8188-8C7735F48CD9}" type="pres">
      <dgm:prSet presAssocID="{DB2A9D82-6D34-43B1-A9E8-817AA2614F67}" presName="Name1" presStyleCnt="0"/>
      <dgm:spPr/>
    </dgm:pt>
    <dgm:pt modelId="{87E1134B-46A1-4E4D-95F6-BA12E6796866}" type="pres">
      <dgm:prSet presAssocID="{DB2A9D82-6D34-43B1-A9E8-817AA2614F67}" presName="cycle" presStyleCnt="0"/>
      <dgm:spPr/>
    </dgm:pt>
    <dgm:pt modelId="{99D31D72-4444-4005-9905-D6E8839E084A}" type="pres">
      <dgm:prSet presAssocID="{DB2A9D82-6D34-43B1-A9E8-817AA2614F67}" presName="srcNode" presStyleLbl="node1" presStyleIdx="0" presStyleCnt="4"/>
      <dgm:spPr/>
    </dgm:pt>
    <dgm:pt modelId="{6C1F8005-0914-478A-BD25-5A43A3C93814}" type="pres">
      <dgm:prSet presAssocID="{DB2A9D82-6D34-43B1-A9E8-817AA2614F67}" presName="conn" presStyleLbl="parChTrans1D2" presStyleIdx="0" presStyleCnt="1"/>
      <dgm:spPr/>
      <dgm:t>
        <a:bodyPr/>
        <a:lstStyle/>
        <a:p>
          <a:endParaRPr lang="ru-RU"/>
        </a:p>
      </dgm:t>
    </dgm:pt>
    <dgm:pt modelId="{BF11D220-7D11-422F-A17D-F4946C457C29}" type="pres">
      <dgm:prSet presAssocID="{DB2A9D82-6D34-43B1-A9E8-817AA2614F67}" presName="extraNode" presStyleLbl="node1" presStyleIdx="0" presStyleCnt="4"/>
      <dgm:spPr/>
    </dgm:pt>
    <dgm:pt modelId="{3FBA4D2E-5A3D-45AA-8219-41FA6EDF985C}" type="pres">
      <dgm:prSet presAssocID="{DB2A9D82-6D34-43B1-A9E8-817AA2614F67}" presName="dstNode" presStyleLbl="node1" presStyleIdx="0" presStyleCnt="4"/>
      <dgm:spPr/>
    </dgm:pt>
    <dgm:pt modelId="{CA4249AB-0BFD-40F8-818B-08238EA13581}" type="pres">
      <dgm:prSet presAssocID="{062B76FF-F4A5-4AF4-A8E3-945DCA6D7722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65031A-A0E6-4985-93CE-1B414569BCDC}" type="pres">
      <dgm:prSet presAssocID="{062B76FF-F4A5-4AF4-A8E3-945DCA6D7722}" presName="accent_1" presStyleCnt="0"/>
      <dgm:spPr/>
    </dgm:pt>
    <dgm:pt modelId="{1376145A-9270-4EB6-B6D9-FCC6F57AA4B7}" type="pres">
      <dgm:prSet presAssocID="{062B76FF-F4A5-4AF4-A8E3-945DCA6D7722}" presName="accentRepeatNode" presStyleLbl="solidFgAcc1" presStyleIdx="0" presStyleCnt="4"/>
      <dgm:spPr>
        <a:solidFill>
          <a:schemeClr val="tx2"/>
        </a:solidFill>
        <a:ln>
          <a:solidFill>
            <a:schemeClr val="accent1"/>
          </a:solidFill>
        </a:ln>
      </dgm:spPr>
    </dgm:pt>
    <dgm:pt modelId="{8C2D5585-7123-48B1-B140-36DBAFAD12B7}" type="pres">
      <dgm:prSet presAssocID="{3508BAB5-30D4-4836-B614-CEC247BF8647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09918A-6889-4E97-8B7F-614A47DAC38E}" type="pres">
      <dgm:prSet presAssocID="{3508BAB5-30D4-4836-B614-CEC247BF8647}" presName="accent_2" presStyleCnt="0"/>
      <dgm:spPr/>
    </dgm:pt>
    <dgm:pt modelId="{F0845B6D-9A34-4A29-B486-F9531947D0DD}" type="pres">
      <dgm:prSet presAssocID="{3508BAB5-30D4-4836-B614-CEC247BF8647}" presName="accentRepeatNode" presStyleLbl="solidFgAcc1" presStyleIdx="1" presStyleCnt="4"/>
      <dgm:spPr>
        <a:solidFill>
          <a:schemeClr val="tx2"/>
        </a:solidFill>
        <a:ln>
          <a:solidFill>
            <a:schemeClr val="accent1"/>
          </a:solidFill>
        </a:ln>
      </dgm:spPr>
    </dgm:pt>
    <dgm:pt modelId="{33054633-C88E-4E09-BE9E-7C72C09887F0}" type="pres">
      <dgm:prSet presAssocID="{6CEE240F-01F0-4359-BD4A-D81A2C9EC689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C762248-BBCF-420C-9359-B07EF381059D}" type="pres">
      <dgm:prSet presAssocID="{6CEE240F-01F0-4359-BD4A-D81A2C9EC689}" presName="accent_3" presStyleCnt="0"/>
      <dgm:spPr/>
    </dgm:pt>
    <dgm:pt modelId="{F1CD8A50-7078-4710-8EF1-5AC2403E6F50}" type="pres">
      <dgm:prSet presAssocID="{6CEE240F-01F0-4359-BD4A-D81A2C9EC689}" presName="accentRepeatNode" presStyleLbl="solidFgAcc1" presStyleIdx="2" presStyleCnt="4"/>
      <dgm:spPr>
        <a:solidFill>
          <a:schemeClr val="tx2"/>
        </a:solidFill>
        <a:ln>
          <a:solidFill>
            <a:schemeClr val="accent1"/>
          </a:solidFill>
        </a:ln>
      </dgm:spPr>
    </dgm:pt>
    <dgm:pt modelId="{D362F214-1DBA-4542-9D27-2DE57E50EFE6}" type="pres">
      <dgm:prSet presAssocID="{DB9007DF-2314-4134-A007-F351B8E5B01C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9A6E60-8BDB-4C53-8BA0-D15772A005BB}" type="pres">
      <dgm:prSet presAssocID="{DB9007DF-2314-4134-A007-F351B8E5B01C}" presName="accent_4" presStyleCnt="0"/>
      <dgm:spPr/>
    </dgm:pt>
    <dgm:pt modelId="{6D3F812E-03F1-4680-979B-27BE4CECB241}" type="pres">
      <dgm:prSet presAssocID="{DB9007DF-2314-4134-A007-F351B8E5B01C}" presName="accentRepeatNode" presStyleLbl="solidFgAcc1" presStyleIdx="3" presStyleCnt="4"/>
      <dgm:spPr>
        <a:solidFill>
          <a:schemeClr val="tx2"/>
        </a:solidFill>
        <a:ln>
          <a:solidFill>
            <a:schemeClr val="accent1"/>
          </a:solidFill>
        </a:ln>
      </dgm:spPr>
    </dgm:pt>
  </dgm:ptLst>
  <dgm:cxnLst>
    <dgm:cxn modelId="{4F0D7A8F-1A57-45BE-B93F-E05813D0BE04}" srcId="{DB2A9D82-6D34-43B1-A9E8-817AA2614F67}" destId="{3508BAB5-30D4-4836-B614-CEC247BF8647}" srcOrd="1" destOrd="0" parTransId="{148FC4C3-556A-4C17-B8AB-6182FEAB9D70}" sibTransId="{D95ED369-6AB4-468C-B48A-1FB5A8E90178}"/>
    <dgm:cxn modelId="{58238169-736C-42C0-8B74-A8B5953E10FB}" type="presOf" srcId="{6CEE240F-01F0-4359-BD4A-D81A2C9EC689}" destId="{33054633-C88E-4E09-BE9E-7C72C09887F0}" srcOrd="0" destOrd="0" presId="urn:microsoft.com/office/officeart/2008/layout/VerticalCurvedList"/>
    <dgm:cxn modelId="{DC7C725B-E8AF-4795-8E81-59CB221582C4}" srcId="{DB2A9D82-6D34-43B1-A9E8-817AA2614F67}" destId="{DB9007DF-2314-4134-A007-F351B8E5B01C}" srcOrd="3" destOrd="0" parTransId="{A66437FC-A750-41C5-8281-04372091C9A3}" sibTransId="{6CE50652-3F9C-4249-A8B9-45838C82CF28}"/>
    <dgm:cxn modelId="{1CB7F480-ABC4-419F-85FE-24EB69F32909}" type="presOf" srcId="{DB9007DF-2314-4134-A007-F351B8E5B01C}" destId="{D362F214-1DBA-4542-9D27-2DE57E50EFE6}" srcOrd="0" destOrd="0" presId="urn:microsoft.com/office/officeart/2008/layout/VerticalCurvedList"/>
    <dgm:cxn modelId="{DECD5215-8BFD-4A40-A8E9-10533618D9B3}" type="presOf" srcId="{53059C22-272A-4FA1-8C74-170ED9989BF3}" destId="{6C1F8005-0914-478A-BD25-5A43A3C93814}" srcOrd="0" destOrd="0" presId="urn:microsoft.com/office/officeart/2008/layout/VerticalCurvedList"/>
    <dgm:cxn modelId="{DB7041CF-DE4E-486B-9534-88A45FCF860E}" type="presOf" srcId="{DB2A9D82-6D34-43B1-A9E8-817AA2614F67}" destId="{E1F1D04E-1EBB-4ABF-984D-90C6A2CB7705}" srcOrd="0" destOrd="0" presId="urn:microsoft.com/office/officeart/2008/layout/VerticalCurvedList"/>
    <dgm:cxn modelId="{9F69CE82-FBD7-43DF-A12C-DEDD208A0E85}" type="presOf" srcId="{3508BAB5-30D4-4836-B614-CEC247BF8647}" destId="{8C2D5585-7123-48B1-B140-36DBAFAD12B7}" srcOrd="0" destOrd="0" presId="urn:microsoft.com/office/officeart/2008/layout/VerticalCurvedList"/>
    <dgm:cxn modelId="{C9CBD283-A031-43FA-982E-2CBF4825BBB2}" srcId="{DB2A9D82-6D34-43B1-A9E8-817AA2614F67}" destId="{6CEE240F-01F0-4359-BD4A-D81A2C9EC689}" srcOrd="2" destOrd="0" parTransId="{D7525739-1C95-4D2D-9FEC-2290460C63D1}" sibTransId="{3288479E-BFFA-4C37-AFA0-5E911A08A3B5}"/>
    <dgm:cxn modelId="{ECB54302-8554-4485-8900-61616B194B03}" srcId="{DB2A9D82-6D34-43B1-A9E8-817AA2614F67}" destId="{062B76FF-F4A5-4AF4-A8E3-945DCA6D7722}" srcOrd="0" destOrd="0" parTransId="{24FFC012-51BD-457A-9F82-64462C9B825A}" sibTransId="{53059C22-272A-4FA1-8C74-170ED9989BF3}"/>
    <dgm:cxn modelId="{08635C6B-EB33-40C9-8DD5-F39B8D9C064E}" type="presOf" srcId="{062B76FF-F4A5-4AF4-A8E3-945DCA6D7722}" destId="{CA4249AB-0BFD-40F8-818B-08238EA13581}" srcOrd="0" destOrd="0" presId="urn:microsoft.com/office/officeart/2008/layout/VerticalCurvedList"/>
    <dgm:cxn modelId="{0CD97733-D4F0-4EF1-B866-76935559B8F2}" type="presParOf" srcId="{E1F1D04E-1EBB-4ABF-984D-90C6A2CB7705}" destId="{2F5E49D6-772F-438D-8188-8C7735F48CD9}" srcOrd="0" destOrd="0" presId="urn:microsoft.com/office/officeart/2008/layout/VerticalCurvedList"/>
    <dgm:cxn modelId="{7101EC5E-7340-4245-9D43-0F0D14D0E12B}" type="presParOf" srcId="{2F5E49D6-772F-438D-8188-8C7735F48CD9}" destId="{87E1134B-46A1-4E4D-95F6-BA12E6796866}" srcOrd="0" destOrd="0" presId="urn:microsoft.com/office/officeart/2008/layout/VerticalCurvedList"/>
    <dgm:cxn modelId="{0DFD3C67-311D-41C6-8B21-66164325D542}" type="presParOf" srcId="{87E1134B-46A1-4E4D-95F6-BA12E6796866}" destId="{99D31D72-4444-4005-9905-D6E8839E084A}" srcOrd="0" destOrd="0" presId="urn:microsoft.com/office/officeart/2008/layout/VerticalCurvedList"/>
    <dgm:cxn modelId="{E6626C89-F80D-41F1-986C-79C8D91B22E0}" type="presParOf" srcId="{87E1134B-46A1-4E4D-95F6-BA12E6796866}" destId="{6C1F8005-0914-478A-BD25-5A43A3C93814}" srcOrd="1" destOrd="0" presId="urn:microsoft.com/office/officeart/2008/layout/VerticalCurvedList"/>
    <dgm:cxn modelId="{1BDCA2E9-60A5-4BA4-A0C3-78802B107088}" type="presParOf" srcId="{87E1134B-46A1-4E4D-95F6-BA12E6796866}" destId="{BF11D220-7D11-422F-A17D-F4946C457C29}" srcOrd="2" destOrd="0" presId="urn:microsoft.com/office/officeart/2008/layout/VerticalCurvedList"/>
    <dgm:cxn modelId="{98C3D020-0910-46E2-898C-4E540F2F5C77}" type="presParOf" srcId="{87E1134B-46A1-4E4D-95F6-BA12E6796866}" destId="{3FBA4D2E-5A3D-45AA-8219-41FA6EDF985C}" srcOrd="3" destOrd="0" presId="urn:microsoft.com/office/officeart/2008/layout/VerticalCurvedList"/>
    <dgm:cxn modelId="{6A8195C0-8FCB-414A-9498-F09D267C7D7D}" type="presParOf" srcId="{2F5E49D6-772F-438D-8188-8C7735F48CD9}" destId="{CA4249AB-0BFD-40F8-818B-08238EA13581}" srcOrd="1" destOrd="0" presId="urn:microsoft.com/office/officeart/2008/layout/VerticalCurvedList"/>
    <dgm:cxn modelId="{8D786951-5CA6-48D3-BCB6-B9B12DA440C5}" type="presParOf" srcId="{2F5E49D6-772F-438D-8188-8C7735F48CD9}" destId="{CC65031A-A0E6-4985-93CE-1B414569BCDC}" srcOrd="2" destOrd="0" presId="urn:microsoft.com/office/officeart/2008/layout/VerticalCurvedList"/>
    <dgm:cxn modelId="{FC00690E-41D9-418D-88BA-EAD501E7C38A}" type="presParOf" srcId="{CC65031A-A0E6-4985-93CE-1B414569BCDC}" destId="{1376145A-9270-4EB6-B6D9-FCC6F57AA4B7}" srcOrd="0" destOrd="0" presId="urn:microsoft.com/office/officeart/2008/layout/VerticalCurvedList"/>
    <dgm:cxn modelId="{1A04812C-41C1-4E91-A12E-C6A8474BCD4B}" type="presParOf" srcId="{2F5E49D6-772F-438D-8188-8C7735F48CD9}" destId="{8C2D5585-7123-48B1-B140-36DBAFAD12B7}" srcOrd="3" destOrd="0" presId="urn:microsoft.com/office/officeart/2008/layout/VerticalCurvedList"/>
    <dgm:cxn modelId="{47D9559E-9BD9-4A0A-B81A-837579F8BC32}" type="presParOf" srcId="{2F5E49D6-772F-438D-8188-8C7735F48CD9}" destId="{F409918A-6889-4E97-8B7F-614A47DAC38E}" srcOrd="4" destOrd="0" presId="urn:microsoft.com/office/officeart/2008/layout/VerticalCurvedList"/>
    <dgm:cxn modelId="{31E81AF1-84DA-45A2-90F8-03148D7C065C}" type="presParOf" srcId="{F409918A-6889-4E97-8B7F-614A47DAC38E}" destId="{F0845B6D-9A34-4A29-B486-F9531947D0DD}" srcOrd="0" destOrd="0" presId="urn:microsoft.com/office/officeart/2008/layout/VerticalCurvedList"/>
    <dgm:cxn modelId="{C214EDA4-A568-4D27-96B4-5F6C73229208}" type="presParOf" srcId="{2F5E49D6-772F-438D-8188-8C7735F48CD9}" destId="{33054633-C88E-4E09-BE9E-7C72C09887F0}" srcOrd="5" destOrd="0" presId="urn:microsoft.com/office/officeart/2008/layout/VerticalCurvedList"/>
    <dgm:cxn modelId="{EEF65A16-A6BC-439F-832F-3DE89CA9FB72}" type="presParOf" srcId="{2F5E49D6-772F-438D-8188-8C7735F48CD9}" destId="{4C762248-BBCF-420C-9359-B07EF381059D}" srcOrd="6" destOrd="0" presId="urn:microsoft.com/office/officeart/2008/layout/VerticalCurvedList"/>
    <dgm:cxn modelId="{65B4EB33-F818-4B78-8299-BD278E0D8CDA}" type="presParOf" srcId="{4C762248-BBCF-420C-9359-B07EF381059D}" destId="{F1CD8A50-7078-4710-8EF1-5AC2403E6F50}" srcOrd="0" destOrd="0" presId="urn:microsoft.com/office/officeart/2008/layout/VerticalCurvedList"/>
    <dgm:cxn modelId="{57A2042E-C336-4C92-88B3-0887881983AF}" type="presParOf" srcId="{2F5E49D6-772F-438D-8188-8C7735F48CD9}" destId="{D362F214-1DBA-4542-9D27-2DE57E50EFE6}" srcOrd="7" destOrd="0" presId="urn:microsoft.com/office/officeart/2008/layout/VerticalCurvedList"/>
    <dgm:cxn modelId="{FD6F0D9B-CC26-43B6-A30D-C9E4EDFC83FE}" type="presParOf" srcId="{2F5E49D6-772F-438D-8188-8C7735F48CD9}" destId="{A99A6E60-8BDB-4C53-8BA0-D15772A005BB}" srcOrd="8" destOrd="0" presId="urn:microsoft.com/office/officeart/2008/layout/VerticalCurvedList"/>
    <dgm:cxn modelId="{268C3AF7-41BA-4BE5-BB7F-79B2693A2308}" type="presParOf" srcId="{A99A6E60-8BDB-4C53-8BA0-D15772A005BB}" destId="{6D3F812E-03F1-4680-979B-27BE4CECB24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828D6-2AF3-4091-BDCE-0A20F62A988B}">
      <dsp:nvSpPr>
        <dsp:cNvPr id="0" name=""/>
        <dsp:cNvSpPr/>
      </dsp:nvSpPr>
      <dsp:spPr>
        <a:xfrm>
          <a:off x="-5073989" y="-777328"/>
          <a:ext cx="6042610" cy="6042610"/>
        </a:xfrm>
        <a:prstGeom prst="blockArc">
          <a:avLst>
            <a:gd name="adj1" fmla="val 18900000"/>
            <a:gd name="adj2" fmla="val 2700000"/>
            <a:gd name="adj3" fmla="val 357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D8A5EE-5279-4F19-B6EA-6B8B1CACFA43}">
      <dsp:nvSpPr>
        <dsp:cNvPr id="0" name=""/>
        <dsp:cNvSpPr/>
      </dsp:nvSpPr>
      <dsp:spPr>
        <a:xfrm>
          <a:off x="507190" y="345033"/>
          <a:ext cx="11276181" cy="690426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026" tIns="50800" rIns="50800" bIns="508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u="sng" kern="1200" dirty="0" smtClean="0">
              <a:solidFill>
                <a:schemeClr val="accent5"/>
              </a:solidFill>
            </a:rPr>
            <a:t>Доступность</a:t>
          </a:r>
          <a:r>
            <a:rPr lang="ru-RU" sz="2000" b="0" kern="1200" dirty="0" smtClean="0">
              <a:solidFill>
                <a:schemeClr val="accent5"/>
              </a:solidFill>
            </a:rPr>
            <a:t>: </a:t>
          </a:r>
          <a:r>
            <a:rPr lang="ru-RU" sz="2000" kern="1200" dirty="0" smtClean="0">
              <a:solidFill>
                <a:schemeClr val="tx2"/>
              </a:solidFill>
            </a:rPr>
            <a:t>бесплатный или недорогой тариф с базовым функционалом, а также возможность поддержки работы с телефона или планшета.</a:t>
          </a:r>
          <a:endParaRPr lang="ru-RU" sz="2000" kern="1200" dirty="0">
            <a:solidFill>
              <a:schemeClr val="tx2"/>
            </a:solidFill>
          </a:endParaRPr>
        </a:p>
      </dsp:txBody>
      <dsp:txXfrm>
        <a:off x="507190" y="345033"/>
        <a:ext cx="11276181" cy="690426"/>
      </dsp:txXfrm>
    </dsp:sp>
    <dsp:sp modelId="{D6139D3A-5144-488D-92A1-3F839E6A97DA}">
      <dsp:nvSpPr>
        <dsp:cNvPr id="0" name=""/>
        <dsp:cNvSpPr/>
      </dsp:nvSpPr>
      <dsp:spPr>
        <a:xfrm>
          <a:off x="75673" y="258730"/>
          <a:ext cx="863033" cy="863033"/>
        </a:xfrm>
        <a:prstGeom prst="ellipse">
          <a:avLst/>
        </a:prstGeom>
        <a:solidFill>
          <a:schemeClr val="tx2"/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16104-CFD3-4908-A8F1-9DDBEF67DE25}">
      <dsp:nvSpPr>
        <dsp:cNvPr id="0" name=""/>
        <dsp:cNvSpPr/>
      </dsp:nvSpPr>
      <dsp:spPr>
        <a:xfrm>
          <a:off x="903027" y="1380853"/>
          <a:ext cx="10880343" cy="690426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026" tIns="50800" rIns="50800" bIns="508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u="sng" kern="1200" dirty="0" smtClean="0">
              <a:solidFill>
                <a:schemeClr val="accent5"/>
              </a:solidFill>
            </a:rPr>
            <a:t>Простой и понятный интерфейс</a:t>
          </a:r>
          <a:r>
            <a:rPr lang="ru-RU" sz="2000" kern="1200" dirty="0" smtClean="0">
              <a:solidFill>
                <a:schemeClr val="accent5"/>
              </a:solidFill>
            </a:rPr>
            <a:t>,</a:t>
          </a:r>
          <a:r>
            <a:rPr lang="ru-RU" sz="2000" kern="1200" dirty="0" smtClean="0"/>
            <a:t> </a:t>
          </a:r>
          <a:r>
            <a:rPr lang="ru-RU" sz="2000" kern="1200" dirty="0" smtClean="0">
              <a:solidFill>
                <a:schemeClr val="tx2"/>
              </a:solidFill>
            </a:rPr>
            <a:t>чтобы сократить время обучения сотрудников</a:t>
          </a:r>
          <a:r>
            <a:rPr lang="ru-RU" sz="1900" kern="1200" dirty="0" smtClean="0">
              <a:solidFill>
                <a:schemeClr val="tx2"/>
              </a:solidFill>
            </a:rPr>
            <a:t>.</a:t>
          </a:r>
          <a:endParaRPr lang="ru-RU" sz="1900" kern="1200" dirty="0">
            <a:solidFill>
              <a:schemeClr val="tx2"/>
            </a:solidFill>
          </a:endParaRPr>
        </a:p>
      </dsp:txBody>
      <dsp:txXfrm>
        <a:off x="903027" y="1380853"/>
        <a:ext cx="10880343" cy="690426"/>
      </dsp:txXfrm>
    </dsp:sp>
    <dsp:sp modelId="{7C32C14E-E2F4-457D-992C-328470A9DB57}">
      <dsp:nvSpPr>
        <dsp:cNvPr id="0" name=""/>
        <dsp:cNvSpPr/>
      </dsp:nvSpPr>
      <dsp:spPr>
        <a:xfrm>
          <a:off x="471510" y="1294550"/>
          <a:ext cx="863033" cy="863033"/>
        </a:xfrm>
        <a:prstGeom prst="ellipse">
          <a:avLst/>
        </a:prstGeom>
        <a:solidFill>
          <a:schemeClr val="tx2"/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811F89-05B5-4FF4-8739-5F517BB18E9E}">
      <dsp:nvSpPr>
        <dsp:cNvPr id="0" name=""/>
        <dsp:cNvSpPr/>
      </dsp:nvSpPr>
      <dsp:spPr>
        <a:xfrm>
          <a:off x="903027" y="2416673"/>
          <a:ext cx="10880343" cy="690426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026" tIns="50800" rIns="50800" bIns="508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u="sng" kern="1200" dirty="0" smtClean="0">
              <a:solidFill>
                <a:schemeClr val="accent5"/>
              </a:solidFill>
            </a:rPr>
            <a:t>Автоматизация процесса</a:t>
          </a:r>
          <a:r>
            <a:rPr lang="ru-RU" sz="2000" kern="1200" dirty="0" smtClean="0">
              <a:solidFill>
                <a:schemeClr val="accent5"/>
              </a:solidFill>
            </a:rPr>
            <a:t> </a:t>
          </a:r>
          <a:r>
            <a:rPr lang="ru-RU" sz="2000" kern="1200" dirty="0" smtClean="0">
              <a:solidFill>
                <a:schemeClr val="tx2"/>
              </a:solidFill>
            </a:rPr>
            <a:t>для экономии времени: например, шаблоны для повторяющихся задач (прием заказов)</a:t>
          </a:r>
          <a:endParaRPr lang="ru-RU" sz="2000" kern="1200" dirty="0">
            <a:solidFill>
              <a:schemeClr val="tx2"/>
            </a:solidFill>
          </a:endParaRPr>
        </a:p>
      </dsp:txBody>
      <dsp:txXfrm>
        <a:off x="903027" y="2416673"/>
        <a:ext cx="10880343" cy="690426"/>
      </dsp:txXfrm>
    </dsp:sp>
    <dsp:sp modelId="{BF4687E3-E51A-4394-9EF4-3C1F1B2D0AB9}">
      <dsp:nvSpPr>
        <dsp:cNvPr id="0" name=""/>
        <dsp:cNvSpPr/>
      </dsp:nvSpPr>
      <dsp:spPr>
        <a:xfrm>
          <a:off x="471510" y="2330370"/>
          <a:ext cx="863033" cy="863033"/>
        </a:xfrm>
        <a:prstGeom prst="ellipse">
          <a:avLst/>
        </a:prstGeom>
        <a:solidFill>
          <a:schemeClr val="tx2"/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7C06BD-5342-4E38-9B8C-3CF24EB50121}">
      <dsp:nvSpPr>
        <dsp:cNvPr id="0" name=""/>
        <dsp:cNvSpPr/>
      </dsp:nvSpPr>
      <dsp:spPr>
        <a:xfrm>
          <a:off x="507190" y="3384296"/>
          <a:ext cx="11276181" cy="826820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026" tIns="50800" rIns="50800" bIns="508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u="sng" kern="1200" dirty="0" smtClean="0">
              <a:solidFill>
                <a:schemeClr val="accent5"/>
              </a:solidFill>
            </a:rPr>
            <a:t>Функциональность и гибкость</a:t>
          </a:r>
          <a:r>
            <a:rPr lang="ru-RU" sz="2000" kern="1200" dirty="0" smtClean="0">
              <a:solidFill>
                <a:schemeClr val="accent5"/>
              </a:solidFill>
            </a:rPr>
            <a:t>: </a:t>
          </a:r>
          <a:r>
            <a:rPr lang="ru-RU" sz="2000" kern="1200" dirty="0" smtClean="0">
              <a:solidFill>
                <a:schemeClr val="tx2"/>
              </a:solidFill>
            </a:rPr>
            <a:t>возможность адаптации под разные задачи (управление проектами, CRM, учет задач), а также возможность расширения функционала по мере роста бизнеса.</a:t>
          </a:r>
          <a:endParaRPr lang="ru-RU" sz="2000" kern="1200" dirty="0">
            <a:solidFill>
              <a:schemeClr val="tx2"/>
            </a:solidFill>
          </a:endParaRPr>
        </a:p>
      </dsp:txBody>
      <dsp:txXfrm>
        <a:off x="507190" y="3384296"/>
        <a:ext cx="11276181" cy="826820"/>
      </dsp:txXfrm>
    </dsp:sp>
    <dsp:sp modelId="{138F1837-1919-4D77-8851-141BB3450E93}">
      <dsp:nvSpPr>
        <dsp:cNvPr id="0" name=""/>
        <dsp:cNvSpPr/>
      </dsp:nvSpPr>
      <dsp:spPr>
        <a:xfrm>
          <a:off x="75673" y="3366189"/>
          <a:ext cx="863033" cy="863033"/>
        </a:xfrm>
        <a:prstGeom prst="ellipse">
          <a:avLst/>
        </a:prstGeom>
        <a:solidFill>
          <a:schemeClr val="tx2"/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5A50C7-4F59-4532-9351-CB46A55D9993}">
      <dsp:nvSpPr>
        <dsp:cNvPr id="0" name=""/>
        <dsp:cNvSpPr/>
      </dsp:nvSpPr>
      <dsp:spPr>
        <a:xfrm>
          <a:off x="-5073989" y="-777328"/>
          <a:ext cx="6042610" cy="6042610"/>
        </a:xfrm>
        <a:prstGeom prst="blockArc">
          <a:avLst>
            <a:gd name="adj1" fmla="val 18900000"/>
            <a:gd name="adj2" fmla="val 2700000"/>
            <a:gd name="adj3" fmla="val 357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AD754D-B0B3-42E6-9445-1C0533A3FC59}">
      <dsp:nvSpPr>
        <dsp:cNvPr id="0" name=""/>
        <dsp:cNvSpPr/>
      </dsp:nvSpPr>
      <dsp:spPr>
        <a:xfrm>
          <a:off x="507190" y="365581"/>
          <a:ext cx="11276181" cy="649332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026" tIns="50800" rIns="50800" bIns="508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u="sng" kern="1200" dirty="0" smtClean="0">
              <a:solidFill>
                <a:schemeClr val="accent5"/>
              </a:solidFill>
            </a:rPr>
            <a:t>Возможность одновременно управлять несколькими проектами и командами</a:t>
          </a:r>
          <a:r>
            <a:rPr lang="ru-RU" sz="2000" kern="1200" dirty="0" smtClean="0">
              <a:solidFill>
                <a:schemeClr val="accent5"/>
              </a:solidFill>
            </a:rPr>
            <a:t> </a:t>
          </a:r>
          <a:r>
            <a:rPr lang="ru-RU" sz="2000" kern="1200" dirty="0" smtClean="0">
              <a:solidFill>
                <a:schemeClr val="tx2"/>
              </a:solidFill>
            </a:rPr>
            <a:t>(разработка, маркетинг, продажи).</a:t>
          </a:r>
          <a:endParaRPr lang="ru-RU" sz="2000" kern="1200" dirty="0">
            <a:solidFill>
              <a:schemeClr val="tx2"/>
            </a:solidFill>
          </a:endParaRPr>
        </a:p>
      </dsp:txBody>
      <dsp:txXfrm>
        <a:off x="507190" y="365581"/>
        <a:ext cx="11276181" cy="649332"/>
      </dsp:txXfrm>
    </dsp:sp>
    <dsp:sp modelId="{655B6252-1A42-4A23-A8F5-73178FE1E348}">
      <dsp:nvSpPr>
        <dsp:cNvPr id="0" name=""/>
        <dsp:cNvSpPr/>
      </dsp:nvSpPr>
      <dsp:spPr>
        <a:xfrm>
          <a:off x="75673" y="258730"/>
          <a:ext cx="863033" cy="863033"/>
        </a:xfrm>
        <a:prstGeom prst="ellipse">
          <a:avLst/>
        </a:prstGeom>
        <a:solidFill>
          <a:schemeClr val="tx2"/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0B2792-31A0-478C-BAEC-0F7FBF9389A7}">
      <dsp:nvSpPr>
        <dsp:cNvPr id="0" name=""/>
        <dsp:cNvSpPr/>
      </dsp:nvSpPr>
      <dsp:spPr>
        <a:xfrm>
          <a:off x="903027" y="1279540"/>
          <a:ext cx="10880343" cy="893053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026" tIns="50800" rIns="50800" bIns="508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u="sng" kern="1200" dirty="0" smtClean="0">
              <a:solidFill>
                <a:schemeClr val="accent5"/>
              </a:solidFill>
            </a:rPr>
            <a:t>Интеграцией с корпоративными системами</a:t>
          </a:r>
          <a:r>
            <a:rPr lang="ru-RU" sz="2000" kern="1200" dirty="0" smtClean="0">
              <a:solidFill>
                <a:schemeClr val="accent5"/>
              </a:solidFill>
            </a:rPr>
            <a:t>:</a:t>
          </a:r>
          <a:r>
            <a:rPr lang="ru-RU" sz="2000" kern="1200" dirty="0" smtClean="0"/>
            <a:t> </a:t>
          </a:r>
          <a:r>
            <a:rPr lang="ru-RU" sz="2000" kern="1200" dirty="0" smtClean="0">
              <a:solidFill>
                <a:schemeClr val="tx2"/>
              </a:solidFill>
            </a:rPr>
            <a:t>возможность подключения к ERP, CRM (например, 1С, </a:t>
          </a:r>
          <a:r>
            <a:rPr lang="ru-RU" sz="2000" kern="1200" dirty="0" err="1" smtClean="0">
              <a:solidFill>
                <a:schemeClr val="tx2"/>
              </a:solidFill>
            </a:rPr>
            <a:t>Salesforce</a:t>
          </a:r>
          <a:r>
            <a:rPr lang="ru-RU" sz="2000" kern="1200" dirty="0" smtClean="0">
              <a:solidFill>
                <a:schemeClr val="tx2"/>
              </a:solidFill>
            </a:rPr>
            <a:t>), бухгалтерским и HR-системам, а также API для автоматизации бизнес-процессов (синхронизация задач с почтой или CRM).</a:t>
          </a:r>
          <a:endParaRPr lang="ru-RU" sz="2000" kern="1200" dirty="0">
            <a:solidFill>
              <a:schemeClr val="tx2"/>
            </a:solidFill>
          </a:endParaRPr>
        </a:p>
      </dsp:txBody>
      <dsp:txXfrm>
        <a:off x="903027" y="1279540"/>
        <a:ext cx="10880343" cy="893053"/>
      </dsp:txXfrm>
    </dsp:sp>
    <dsp:sp modelId="{36A3A9B1-D41F-46EB-8EE8-1B7DE403B50E}">
      <dsp:nvSpPr>
        <dsp:cNvPr id="0" name=""/>
        <dsp:cNvSpPr/>
      </dsp:nvSpPr>
      <dsp:spPr>
        <a:xfrm>
          <a:off x="471510" y="1294550"/>
          <a:ext cx="863033" cy="863033"/>
        </a:xfrm>
        <a:prstGeom prst="ellipse">
          <a:avLst/>
        </a:prstGeom>
        <a:solidFill>
          <a:schemeClr val="tx2"/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243486-C10F-4F6F-8C6F-1E0CDFBA9D85}">
      <dsp:nvSpPr>
        <dsp:cNvPr id="0" name=""/>
        <dsp:cNvSpPr/>
      </dsp:nvSpPr>
      <dsp:spPr>
        <a:xfrm>
          <a:off x="903027" y="2416673"/>
          <a:ext cx="10880343" cy="690426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026" tIns="50800" rIns="50800" bIns="508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u="sng" kern="1200" dirty="0" smtClean="0">
              <a:solidFill>
                <a:schemeClr val="accent5"/>
              </a:solidFill>
            </a:rPr>
            <a:t>Поддержка разных методологий управления</a:t>
          </a:r>
          <a:r>
            <a:rPr lang="ru-RU" sz="2000" kern="1200" dirty="0" smtClean="0">
              <a:solidFill>
                <a:schemeClr val="accent5"/>
              </a:solidFill>
            </a:rPr>
            <a:t>: </a:t>
          </a:r>
          <a:r>
            <a:rPr lang="ru-RU" sz="2000" kern="1200" dirty="0" err="1" smtClean="0">
              <a:solidFill>
                <a:schemeClr val="tx2"/>
              </a:solidFill>
            </a:rPr>
            <a:t>Agile</a:t>
          </a:r>
          <a:r>
            <a:rPr lang="ru-RU" sz="2000" kern="1200" dirty="0" smtClean="0">
              <a:solidFill>
                <a:schemeClr val="tx2"/>
              </a:solidFill>
            </a:rPr>
            <a:t> (гибкие методики </a:t>
          </a:r>
          <a:r>
            <a:rPr lang="ru-RU" sz="2000" kern="1200" dirty="0" err="1" smtClean="0">
              <a:solidFill>
                <a:schemeClr val="tx2"/>
              </a:solidFill>
            </a:rPr>
            <a:t>Scrum</a:t>
          </a:r>
          <a:r>
            <a:rPr lang="ru-RU" sz="2000" kern="1200" dirty="0" smtClean="0">
              <a:solidFill>
                <a:schemeClr val="tx2"/>
              </a:solidFill>
            </a:rPr>
            <a:t>, </a:t>
          </a:r>
          <a:r>
            <a:rPr lang="ru-RU" sz="2000" kern="1200" dirty="0" err="1" smtClean="0">
              <a:solidFill>
                <a:schemeClr val="tx2"/>
              </a:solidFill>
            </a:rPr>
            <a:t>Kanban</a:t>
          </a:r>
          <a:r>
            <a:rPr lang="ru-RU" sz="2000" kern="1200" dirty="0" smtClean="0">
              <a:solidFill>
                <a:schemeClr val="tx2"/>
              </a:solidFill>
            </a:rPr>
            <a:t>) + классическое управление (</a:t>
          </a:r>
          <a:r>
            <a:rPr lang="ru-RU" sz="2000" kern="1200" dirty="0" err="1" smtClean="0">
              <a:solidFill>
                <a:schemeClr val="tx2"/>
              </a:solidFill>
            </a:rPr>
            <a:t>Waterfall</a:t>
          </a:r>
          <a:r>
            <a:rPr lang="ru-RU" sz="2000" kern="1200" dirty="0" smtClean="0">
              <a:solidFill>
                <a:schemeClr val="tx2"/>
              </a:solidFill>
            </a:rPr>
            <a:t>).</a:t>
          </a:r>
          <a:endParaRPr lang="ru-RU" sz="2000" kern="1200" dirty="0">
            <a:solidFill>
              <a:schemeClr val="tx2"/>
            </a:solidFill>
          </a:endParaRPr>
        </a:p>
      </dsp:txBody>
      <dsp:txXfrm>
        <a:off x="903027" y="2416673"/>
        <a:ext cx="10880343" cy="690426"/>
      </dsp:txXfrm>
    </dsp:sp>
    <dsp:sp modelId="{5FB0C0CA-9CE9-4256-83C8-D3B86DEA296E}">
      <dsp:nvSpPr>
        <dsp:cNvPr id="0" name=""/>
        <dsp:cNvSpPr/>
      </dsp:nvSpPr>
      <dsp:spPr>
        <a:xfrm>
          <a:off x="471510" y="2330370"/>
          <a:ext cx="863033" cy="863033"/>
        </a:xfrm>
        <a:prstGeom prst="ellipse">
          <a:avLst/>
        </a:prstGeom>
        <a:solidFill>
          <a:schemeClr val="tx2"/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AB6769-B645-45EA-8545-8C4A21DC4627}">
      <dsp:nvSpPr>
        <dsp:cNvPr id="0" name=""/>
        <dsp:cNvSpPr/>
      </dsp:nvSpPr>
      <dsp:spPr>
        <a:xfrm>
          <a:off x="507190" y="3452493"/>
          <a:ext cx="11276181" cy="690426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026" tIns="50800" rIns="50800" bIns="508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u="sng" kern="1200" dirty="0" smtClean="0">
              <a:solidFill>
                <a:schemeClr val="accent5"/>
              </a:solidFill>
            </a:rPr>
            <a:t>Техподдержка</a:t>
          </a:r>
          <a:r>
            <a:rPr lang="ru-RU" sz="2000" kern="1200" dirty="0" smtClean="0">
              <a:solidFill>
                <a:schemeClr val="accent5"/>
              </a:solidFill>
            </a:rPr>
            <a:t>: </a:t>
          </a:r>
          <a:r>
            <a:rPr lang="ru-RU" sz="2000" kern="1200" dirty="0" smtClean="0">
              <a:solidFill>
                <a:schemeClr val="tx2"/>
              </a:solidFill>
            </a:rPr>
            <a:t>персональный менеджер или быстрое реагирование техподдержки, а также обучение сотрудников (</a:t>
          </a:r>
          <a:r>
            <a:rPr lang="ru-RU" sz="2000" kern="1200" dirty="0" err="1" smtClean="0">
              <a:solidFill>
                <a:schemeClr val="tx2"/>
              </a:solidFill>
            </a:rPr>
            <a:t>вебинары</a:t>
          </a:r>
          <a:r>
            <a:rPr lang="ru-RU" sz="2000" kern="1200" dirty="0" smtClean="0">
              <a:solidFill>
                <a:schemeClr val="tx2"/>
              </a:solidFill>
            </a:rPr>
            <a:t>, инструкции, </a:t>
          </a:r>
          <a:r>
            <a:rPr lang="ru-RU" sz="2000" kern="1200" dirty="0" err="1" smtClean="0">
              <a:solidFill>
                <a:schemeClr val="tx2"/>
              </a:solidFill>
            </a:rPr>
            <a:t>onboarding</a:t>
          </a:r>
          <a:r>
            <a:rPr lang="ru-RU" sz="2000" kern="1200" dirty="0" smtClean="0">
              <a:solidFill>
                <a:schemeClr val="tx2"/>
              </a:solidFill>
            </a:rPr>
            <a:t>).</a:t>
          </a:r>
          <a:endParaRPr lang="ru-RU" sz="2000" kern="1200" dirty="0">
            <a:solidFill>
              <a:schemeClr val="tx2"/>
            </a:solidFill>
          </a:endParaRPr>
        </a:p>
      </dsp:txBody>
      <dsp:txXfrm>
        <a:off x="507190" y="3452493"/>
        <a:ext cx="11276181" cy="690426"/>
      </dsp:txXfrm>
    </dsp:sp>
    <dsp:sp modelId="{8570D749-0D73-40C9-898D-2B89FAB1CF71}">
      <dsp:nvSpPr>
        <dsp:cNvPr id="0" name=""/>
        <dsp:cNvSpPr/>
      </dsp:nvSpPr>
      <dsp:spPr>
        <a:xfrm>
          <a:off x="75673" y="3366189"/>
          <a:ext cx="863033" cy="863033"/>
        </a:xfrm>
        <a:prstGeom prst="ellipse">
          <a:avLst/>
        </a:prstGeom>
        <a:solidFill>
          <a:schemeClr val="tx2"/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F8005-0914-478A-BD25-5A43A3C93814}">
      <dsp:nvSpPr>
        <dsp:cNvPr id="0" name=""/>
        <dsp:cNvSpPr/>
      </dsp:nvSpPr>
      <dsp:spPr>
        <a:xfrm>
          <a:off x="-5073989" y="-777328"/>
          <a:ext cx="6042610" cy="6042610"/>
        </a:xfrm>
        <a:prstGeom prst="blockArc">
          <a:avLst>
            <a:gd name="adj1" fmla="val 18900000"/>
            <a:gd name="adj2" fmla="val 2700000"/>
            <a:gd name="adj3" fmla="val 357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4249AB-0BFD-40F8-818B-08238EA13581}">
      <dsp:nvSpPr>
        <dsp:cNvPr id="0" name=""/>
        <dsp:cNvSpPr/>
      </dsp:nvSpPr>
      <dsp:spPr>
        <a:xfrm>
          <a:off x="507190" y="345033"/>
          <a:ext cx="11276181" cy="690426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026" tIns="50800" rIns="50800" bIns="508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u="sng" kern="1200" dirty="0" smtClean="0">
              <a:solidFill>
                <a:schemeClr val="accent5"/>
              </a:solidFill>
            </a:rPr>
            <a:t>Безопасность и </a:t>
          </a:r>
          <a:r>
            <a:rPr lang="ru-RU" sz="2000" u="sng" kern="1200" dirty="0" err="1" smtClean="0">
              <a:solidFill>
                <a:schemeClr val="accent5"/>
              </a:solidFill>
            </a:rPr>
            <a:t>комплаенс</a:t>
          </a:r>
          <a:r>
            <a:rPr lang="ru-RU" sz="2000" kern="1200" dirty="0" smtClean="0">
              <a:solidFill>
                <a:schemeClr val="accent5"/>
              </a:solidFill>
            </a:rPr>
            <a:t>: </a:t>
          </a:r>
          <a:r>
            <a:rPr lang="ru-RU" sz="2000" kern="1200" dirty="0" smtClean="0"/>
            <a:t>сертификация, шифрование данных, </a:t>
          </a:r>
          <a:r>
            <a:rPr lang="ru-RU" sz="2000" kern="1200" dirty="0" err="1" smtClean="0"/>
            <a:t>адуит</a:t>
          </a:r>
          <a:r>
            <a:rPr lang="ru-RU" sz="2000" kern="1200" dirty="0" smtClean="0"/>
            <a:t> действий (кто, когда и что изменил).</a:t>
          </a:r>
          <a:endParaRPr lang="ru-RU" sz="2000" kern="1200" dirty="0"/>
        </a:p>
      </dsp:txBody>
      <dsp:txXfrm>
        <a:off x="507190" y="345033"/>
        <a:ext cx="11276181" cy="690426"/>
      </dsp:txXfrm>
    </dsp:sp>
    <dsp:sp modelId="{1376145A-9270-4EB6-B6D9-FCC6F57AA4B7}">
      <dsp:nvSpPr>
        <dsp:cNvPr id="0" name=""/>
        <dsp:cNvSpPr/>
      </dsp:nvSpPr>
      <dsp:spPr>
        <a:xfrm>
          <a:off x="75673" y="258730"/>
          <a:ext cx="863033" cy="863033"/>
        </a:xfrm>
        <a:prstGeom prst="ellipse">
          <a:avLst/>
        </a:prstGeom>
        <a:solidFill>
          <a:schemeClr val="tx2"/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2D5585-7123-48B1-B140-36DBAFAD12B7}">
      <dsp:nvSpPr>
        <dsp:cNvPr id="0" name=""/>
        <dsp:cNvSpPr/>
      </dsp:nvSpPr>
      <dsp:spPr>
        <a:xfrm>
          <a:off x="903027" y="1380853"/>
          <a:ext cx="10880343" cy="690426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026" tIns="50800" rIns="50800" bIns="508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u="sng" kern="1200" dirty="0" err="1" smtClean="0">
              <a:solidFill>
                <a:schemeClr val="accent5"/>
              </a:solidFill>
            </a:rPr>
            <a:t>Мультирегиональность</a:t>
          </a:r>
          <a:r>
            <a:rPr lang="ru-RU" sz="2000" kern="1200" dirty="0" smtClean="0">
              <a:solidFill>
                <a:schemeClr val="accent5"/>
              </a:solidFill>
            </a:rPr>
            <a:t>: </a:t>
          </a:r>
          <a:r>
            <a:rPr lang="ru-RU" sz="2000" kern="1200" dirty="0" smtClean="0"/>
            <a:t>возможность поддержки десятков тысяч пользователей из разных стран и временных зон, отсюда локализация интерфейса, валют.</a:t>
          </a:r>
          <a:endParaRPr lang="ru-RU" sz="2000" kern="1200" dirty="0"/>
        </a:p>
      </dsp:txBody>
      <dsp:txXfrm>
        <a:off x="903027" y="1380853"/>
        <a:ext cx="10880343" cy="690426"/>
      </dsp:txXfrm>
    </dsp:sp>
    <dsp:sp modelId="{F0845B6D-9A34-4A29-B486-F9531947D0DD}">
      <dsp:nvSpPr>
        <dsp:cNvPr id="0" name=""/>
        <dsp:cNvSpPr/>
      </dsp:nvSpPr>
      <dsp:spPr>
        <a:xfrm>
          <a:off x="471510" y="1294550"/>
          <a:ext cx="863033" cy="863033"/>
        </a:xfrm>
        <a:prstGeom prst="ellipse">
          <a:avLst/>
        </a:prstGeom>
        <a:solidFill>
          <a:schemeClr val="tx2"/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054633-C88E-4E09-BE9E-7C72C09887F0}">
      <dsp:nvSpPr>
        <dsp:cNvPr id="0" name=""/>
        <dsp:cNvSpPr/>
      </dsp:nvSpPr>
      <dsp:spPr>
        <a:xfrm>
          <a:off x="903027" y="2416673"/>
          <a:ext cx="10880343" cy="690426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026" tIns="50800" rIns="50800" bIns="508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u="sng" kern="1200" dirty="0" smtClean="0">
              <a:solidFill>
                <a:schemeClr val="accent5"/>
              </a:solidFill>
            </a:rPr>
            <a:t>Возможность управления сложными проектами</a:t>
          </a:r>
          <a:r>
            <a:rPr lang="ru-RU" sz="2000" kern="1200" dirty="0" smtClean="0">
              <a:solidFill>
                <a:schemeClr val="accent5"/>
              </a:solidFill>
            </a:rPr>
            <a:t>: </a:t>
          </a:r>
          <a:r>
            <a:rPr lang="ru-RU" sz="2000" kern="1200" dirty="0" smtClean="0"/>
            <a:t>прогнозирования сроков и бюджета, </a:t>
          </a:r>
          <a:r>
            <a:rPr lang="ru-RU" sz="2000" kern="1200" dirty="0" err="1" smtClean="0"/>
            <a:t>приоритизация</a:t>
          </a:r>
          <a:r>
            <a:rPr lang="ru-RU" sz="2000" kern="1200" dirty="0" smtClean="0"/>
            <a:t> проектов для распределения ресурсов.</a:t>
          </a:r>
          <a:endParaRPr lang="ru-RU" sz="2000" kern="1200" dirty="0"/>
        </a:p>
      </dsp:txBody>
      <dsp:txXfrm>
        <a:off x="903027" y="2416673"/>
        <a:ext cx="10880343" cy="690426"/>
      </dsp:txXfrm>
    </dsp:sp>
    <dsp:sp modelId="{F1CD8A50-7078-4710-8EF1-5AC2403E6F50}">
      <dsp:nvSpPr>
        <dsp:cNvPr id="0" name=""/>
        <dsp:cNvSpPr/>
      </dsp:nvSpPr>
      <dsp:spPr>
        <a:xfrm>
          <a:off x="471510" y="2330370"/>
          <a:ext cx="863033" cy="863033"/>
        </a:xfrm>
        <a:prstGeom prst="ellipse">
          <a:avLst/>
        </a:prstGeom>
        <a:solidFill>
          <a:schemeClr val="tx2"/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2F214-1DBA-4542-9D27-2DE57E50EFE6}">
      <dsp:nvSpPr>
        <dsp:cNvPr id="0" name=""/>
        <dsp:cNvSpPr/>
      </dsp:nvSpPr>
      <dsp:spPr>
        <a:xfrm>
          <a:off x="507190" y="3452493"/>
          <a:ext cx="11276181" cy="690426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026" tIns="50800" rIns="50800" bIns="508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u="sng" kern="1200" dirty="0" smtClean="0">
              <a:solidFill>
                <a:schemeClr val="accent5"/>
              </a:solidFill>
            </a:rPr>
            <a:t>ИИ</a:t>
          </a:r>
          <a:r>
            <a:rPr lang="ru-RU" sz="2000" kern="1200" dirty="0" smtClean="0">
              <a:solidFill>
                <a:schemeClr val="accent5"/>
              </a:solidFill>
            </a:rPr>
            <a:t>: </a:t>
          </a:r>
          <a:r>
            <a:rPr lang="ru-RU" sz="2000" kern="1200" dirty="0" smtClean="0"/>
            <a:t>прогнозная аналитика (искусственный интеллект для оценки сроков), автоматизация отчетов (ежемесячные KPI).</a:t>
          </a:r>
          <a:endParaRPr lang="ru-RU" sz="2000" kern="1200" dirty="0"/>
        </a:p>
      </dsp:txBody>
      <dsp:txXfrm>
        <a:off x="507190" y="3452493"/>
        <a:ext cx="11276181" cy="690426"/>
      </dsp:txXfrm>
    </dsp:sp>
    <dsp:sp modelId="{6D3F812E-03F1-4680-979B-27BE4CECB241}">
      <dsp:nvSpPr>
        <dsp:cNvPr id="0" name=""/>
        <dsp:cNvSpPr/>
      </dsp:nvSpPr>
      <dsp:spPr>
        <a:xfrm>
          <a:off x="75673" y="3366189"/>
          <a:ext cx="863033" cy="863033"/>
        </a:xfrm>
        <a:prstGeom prst="ellipse">
          <a:avLst/>
        </a:prstGeom>
        <a:solidFill>
          <a:schemeClr val="tx2"/>
        </a:solidFill>
        <a:ln w="158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FE1B-4354-4768-985D-2A9790C1380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E919-89DD-4B14-9AF5-A4F2063A8BCD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34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FE1B-4354-4768-985D-2A9790C1380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E919-89DD-4B14-9AF5-A4F2063A8B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348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FE1B-4354-4768-985D-2A9790C1380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E919-89DD-4B14-9AF5-A4F2063A8BCD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327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FE1B-4354-4768-985D-2A9790C1380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E919-89DD-4B14-9AF5-A4F2063A8B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715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FE1B-4354-4768-985D-2A9790C1380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E919-89DD-4B14-9AF5-A4F2063A8B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881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FE1B-4354-4768-985D-2A9790C1380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E919-89DD-4B14-9AF5-A4F2063A8B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4778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FE1B-4354-4768-985D-2A9790C1380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E919-89DD-4B14-9AF5-A4F2063A8B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48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E81FE1B-4354-4768-985D-2A9790C1380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D2E919-89DD-4B14-9AF5-A4F2063A8B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45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81FE1B-4354-4768-985D-2A9790C1380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D2E919-89DD-4B14-9AF5-A4F2063A8B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06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FE1B-4354-4768-985D-2A9790C1380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E919-89DD-4B14-9AF5-A4F2063A8B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99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FE1B-4354-4768-985D-2A9790C1380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E919-89DD-4B14-9AF5-A4F2063A8B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83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E81FE1B-4354-4768-985D-2A9790C1380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4D2E919-89DD-4B14-9AF5-A4F2063A8BCD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3156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yandex.ru/support/tracker/ru/cloud/pricing" TargetMode="External"/><Relationship Id="rId3" Type="http://schemas.openxmlformats.org/officeDocument/2006/relationships/hyperlink" Target="https://habr.com/ru/companies/yougile/articles/545614/" TargetMode="External"/><Relationship Id="rId7" Type="http://schemas.openxmlformats.org/officeDocument/2006/relationships/hyperlink" Target="https://360.yandex.ru/business/tracker" TargetMode="External"/><Relationship Id="rId12" Type="http://schemas.openxmlformats.org/officeDocument/2006/relationships/hyperlink" Target="https://habr.com/ru/articles/883608/" TargetMode="External"/><Relationship Id="rId2" Type="http://schemas.openxmlformats.org/officeDocument/2006/relationships/hyperlink" Target="https://www.gazprombank.ru/pro-finance/business/tipy-biznesa-malyy-sredniy-i-krupnyy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bitrix24.ru/" TargetMode="External"/><Relationship Id="rId11" Type="http://schemas.openxmlformats.org/officeDocument/2006/relationships/hyperlink" Target="https://www.cnews.ru/news/top/2022-04-21_otechestvennyj_konkurent" TargetMode="External"/><Relationship Id="rId5" Type="http://schemas.openxmlformats.org/officeDocument/2006/relationships/hyperlink" Target="https://asana.com/ru?noredirect" TargetMode="External"/><Relationship Id="rId10" Type="http://schemas.openxmlformats.org/officeDocument/2006/relationships/hyperlink" Target="https://hf.ru/services/yandextracker_obzor" TargetMode="External"/><Relationship Id="rId4" Type="http://schemas.openxmlformats.org/officeDocument/2006/relationships/hyperlink" Target="https://www.atlassian.com/jira" TargetMode="External"/><Relationship Id="rId9" Type="http://schemas.openxmlformats.org/officeDocument/2006/relationships/hyperlink" Target="https://yandex.cloud/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52818" y="2759977"/>
            <a:ext cx="10058400" cy="155674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900" dirty="0"/>
              <a:t/>
            </a:r>
            <a:br>
              <a:rPr lang="ru-RU" sz="4900" dirty="0"/>
            </a:br>
            <a:r>
              <a:rPr lang="ru-RU" sz="9800" dirty="0">
                <a:solidFill>
                  <a:schemeClr val="tx2"/>
                </a:solidFill>
              </a:rPr>
              <a:t/>
            </a:r>
            <a:br>
              <a:rPr lang="ru-RU" sz="9800" dirty="0">
                <a:solidFill>
                  <a:schemeClr val="tx2"/>
                </a:solidFill>
              </a:rPr>
            </a:br>
            <a:r>
              <a:rPr lang="ru-RU" sz="6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КЕЙС «</a:t>
            </a:r>
            <a:r>
              <a:rPr lang="ru-RU" sz="6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СЕРВИС ДЛЯ СОВМЕСТНОЙ РАБОТЫ </a:t>
            </a:r>
            <a:r>
              <a:rPr lang="en-US" sz="6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YANDEX TRACKER</a:t>
            </a:r>
            <a:r>
              <a:rPr lang="ru-RU" sz="6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»</a:t>
            </a:r>
            <a:endParaRPr lang="ru-RU" sz="6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00051" y="4496499"/>
            <a:ext cx="10058400" cy="1375794"/>
          </a:xfrm>
        </p:spPr>
        <p:txBody>
          <a:bodyPr>
            <a:normAutofit/>
          </a:bodyPr>
          <a:lstStyle/>
          <a:p>
            <a:pPr algn="ctr"/>
            <a:r>
              <a:rPr lang="ru-RU" sz="1800" dirty="0">
                <a:solidFill>
                  <a:schemeClr val="accent5"/>
                </a:solidFill>
                <a:latin typeface="+mn-lt"/>
              </a:rPr>
              <a:t>Работу выполнила студентка </a:t>
            </a:r>
          </a:p>
          <a:p>
            <a:pPr algn="ctr"/>
            <a:r>
              <a:rPr lang="ru-RU" sz="1800" dirty="0">
                <a:solidFill>
                  <a:schemeClr val="accent5"/>
                </a:solidFill>
                <a:latin typeface="+mn-lt"/>
              </a:rPr>
              <a:t>МГУ ВШУИ 3 курса 301 группы </a:t>
            </a:r>
          </a:p>
          <a:p>
            <a:pPr algn="ctr"/>
            <a:r>
              <a:rPr lang="ru-RU" sz="1800" dirty="0">
                <a:solidFill>
                  <a:schemeClr val="accent5"/>
                </a:solidFill>
                <a:latin typeface="+mn-lt"/>
              </a:rPr>
              <a:t>Глухова Екатерина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0393" y="305277"/>
            <a:ext cx="115432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2"/>
                </a:solidFill>
              </a:rPr>
              <a:t>ВЫСШАЯ ШКОЛА УПРАВЛЕНИЯ И ИННОВАЦИЙ МГУ </a:t>
            </a:r>
            <a:br>
              <a:rPr lang="ru-RU" dirty="0">
                <a:solidFill>
                  <a:schemeClr val="tx2"/>
                </a:solidFill>
              </a:rPr>
            </a:br>
            <a:r>
              <a:rPr lang="ru-RU" dirty="0">
                <a:solidFill>
                  <a:schemeClr val="tx2"/>
                </a:solidFill>
              </a:rPr>
              <a:t>ИМЕНИ М.В.ЛОМОНОСОВА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279008" y="1292893"/>
            <a:ext cx="760601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УНИВЕРСИАДА ПО </a:t>
            </a:r>
            <a:r>
              <a:rPr lang="ru-RU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ИННОВАТИКЕ: </a:t>
            </a:r>
            <a:r>
              <a:rPr lang="ru-RU" sz="28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Заключительный </a:t>
            </a:r>
            <a:r>
              <a:rPr lang="ru-RU" sz="2800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этап</a:t>
            </a:r>
            <a:endParaRPr lang="ru-RU" sz="2800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291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3949" y="286603"/>
            <a:ext cx="11501305" cy="1450757"/>
          </a:xfr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ru-RU" sz="3600" dirty="0" smtClean="0">
                <a:solidFill>
                  <a:schemeClr val="tx2"/>
                </a:solidFill>
              </a:rPr>
              <a:t>Основные </a:t>
            </a:r>
            <a:r>
              <a:rPr lang="ru-RU" sz="3600" dirty="0">
                <a:solidFill>
                  <a:schemeClr val="tx2"/>
                </a:solidFill>
              </a:rPr>
              <a:t>потребности бизнеса в применении сервисов для управления проектами и совместной </a:t>
            </a:r>
            <a:r>
              <a:rPr lang="ru-RU" sz="3600" dirty="0" smtClean="0">
                <a:solidFill>
                  <a:schemeClr val="tx2"/>
                </a:solidFill>
              </a:rPr>
              <a:t>работы</a:t>
            </a:r>
            <a:endParaRPr lang="ru-RU" sz="3600" dirty="0">
              <a:solidFill>
                <a:schemeClr val="tx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929468"/>
            <a:ext cx="10058400" cy="4404220"/>
          </a:xfrm>
        </p:spPr>
        <p:txBody>
          <a:bodyPr/>
          <a:lstStyle/>
          <a:p>
            <a:pPr algn="just"/>
            <a:r>
              <a:rPr lang="ru-RU" sz="2400" dirty="0">
                <a:solidFill>
                  <a:schemeClr val="tx2"/>
                </a:solidFill>
              </a:rPr>
              <a:t>Выделяют три основных типа бизнеса: </a:t>
            </a:r>
            <a:endParaRPr lang="ru-RU" sz="2400" dirty="0" smtClean="0">
              <a:solidFill>
                <a:schemeClr val="tx2"/>
              </a:solidFill>
            </a:endParaRPr>
          </a:p>
          <a:p>
            <a:pPr marL="360363" indent="-360363" algn="just"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ru-RU" sz="2400" dirty="0" smtClean="0">
                <a:solidFill>
                  <a:schemeClr val="tx2"/>
                </a:solidFill>
              </a:rPr>
              <a:t>Малый; </a:t>
            </a:r>
          </a:p>
          <a:p>
            <a:pPr marL="360363" indent="-360363" algn="just"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ru-RU" sz="2400" dirty="0" smtClean="0">
                <a:solidFill>
                  <a:schemeClr val="tx2"/>
                </a:solidFill>
              </a:rPr>
              <a:t>Средний;</a:t>
            </a:r>
            <a:endParaRPr lang="ru-RU" sz="2400" dirty="0">
              <a:solidFill>
                <a:schemeClr val="tx2"/>
              </a:solidFill>
            </a:endParaRPr>
          </a:p>
          <a:p>
            <a:pPr marL="360363" indent="-360363" algn="just"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ru-RU" sz="2400" dirty="0" smtClean="0">
                <a:solidFill>
                  <a:schemeClr val="tx2"/>
                </a:solidFill>
              </a:rPr>
              <a:t>Крупный</a:t>
            </a:r>
            <a:r>
              <a:rPr lang="ru-RU" sz="2400" dirty="0">
                <a:solidFill>
                  <a:schemeClr val="tx2"/>
                </a:solidFill>
              </a:rPr>
              <a:t>. </a:t>
            </a:r>
            <a:endParaRPr lang="ru-RU" sz="2400" dirty="0" smtClean="0">
              <a:solidFill>
                <a:schemeClr val="tx2"/>
              </a:solidFill>
            </a:endParaRPr>
          </a:p>
          <a:p>
            <a:pPr algn="just"/>
            <a:r>
              <a:rPr lang="ru-RU" sz="2400" dirty="0" smtClean="0">
                <a:solidFill>
                  <a:schemeClr val="tx2"/>
                </a:solidFill>
              </a:rPr>
              <a:t>Разделение </a:t>
            </a:r>
            <a:r>
              <a:rPr lang="ru-RU" sz="2400" dirty="0">
                <a:solidFill>
                  <a:schemeClr val="tx2"/>
                </a:solidFill>
              </a:rPr>
              <a:t>происходит по двум главным критериям</a:t>
            </a:r>
            <a:r>
              <a:rPr lang="ru-RU" sz="2400" dirty="0" smtClean="0">
                <a:solidFill>
                  <a:schemeClr val="tx2"/>
                </a:solidFill>
              </a:rPr>
              <a:t>: </a:t>
            </a:r>
            <a:r>
              <a:rPr lang="ru-RU" sz="2400" u="sng" dirty="0" smtClean="0">
                <a:solidFill>
                  <a:schemeClr val="accent5"/>
                </a:solidFill>
              </a:rPr>
              <a:t>сумме годового дохода</a:t>
            </a:r>
            <a:r>
              <a:rPr lang="ru-RU" sz="2400" dirty="0" smtClean="0">
                <a:solidFill>
                  <a:schemeClr val="tx2"/>
                </a:solidFill>
              </a:rPr>
              <a:t> и </a:t>
            </a:r>
            <a:r>
              <a:rPr lang="ru-RU" sz="2400" u="sng" dirty="0" smtClean="0">
                <a:solidFill>
                  <a:schemeClr val="accent5"/>
                </a:solidFill>
              </a:rPr>
              <a:t>числу сотрудников</a:t>
            </a:r>
            <a:r>
              <a:rPr lang="ru-RU" sz="2400" dirty="0" smtClean="0">
                <a:solidFill>
                  <a:schemeClr val="tx2"/>
                </a:solidFill>
              </a:rPr>
              <a:t>. </a:t>
            </a:r>
            <a:r>
              <a:rPr lang="ru-RU" sz="2400" dirty="0">
                <a:solidFill>
                  <a:schemeClr val="tx2"/>
                </a:solidFill>
              </a:rPr>
              <a:t>Следовательно, потребности для каждого типа бизнеса </a:t>
            </a:r>
            <a:r>
              <a:rPr lang="ru-RU" sz="2400" dirty="0" smtClean="0">
                <a:solidFill>
                  <a:schemeClr val="tx2"/>
                </a:solidFill>
              </a:rPr>
              <a:t>будут </a:t>
            </a:r>
            <a:r>
              <a:rPr lang="ru-RU" sz="2400" dirty="0">
                <a:solidFill>
                  <a:schemeClr val="tx2"/>
                </a:solidFill>
              </a:rPr>
              <a:t>разными.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5985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3949" y="520117"/>
            <a:ext cx="11501305" cy="1217243"/>
          </a:xfrm>
        </p:spPr>
        <p:txBody>
          <a:bodyPr anchor="ctr">
            <a:noAutofit/>
          </a:bodyPr>
          <a:lstStyle/>
          <a:p>
            <a:pPr algn="ctr"/>
            <a:r>
              <a:rPr lang="ru-RU" dirty="0" smtClean="0">
                <a:solidFill>
                  <a:schemeClr val="tx2"/>
                </a:solidFill>
              </a:rPr>
              <a:t>Потребности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smtClean="0">
                <a:solidFill>
                  <a:schemeClr val="accent5"/>
                </a:solidFill>
              </a:rPr>
              <a:t>малого бизнеса</a:t>
            </a:r>
            <a:endParaRPr lang="ru-RU" sz="3600" dirty="0">
              <a:solidFill>
                <a:schemeClr val="accent5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115835"/>
              </p:ext>
            </p:extLst>
          </p:nvPr>
        </p:nvGraphicFramePr>
        <p:xfrm>
          <a:off x="0" y="1845734"/>
          <a:ext cx="11845254" cy="4487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345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3949" y="545284"/>
            <a:ext cx="11501305" cy="1192076"/>
          </a:xfrm>
        </p:spPr>
        <p:txBody>
          <a:bodyPr anchor="ctr">
            <a:noAutofit/>
          </a:bodyPr>
          <a:lstStyle/>
          <a:p>
            <a:pPr algn="ctr"/>
            <a:r>
              <a:rPr lang="ru-RU" dirty="0">
                <a:solidFill>
                  <a:schemeClr val="tx2"/>
                </a:solidFill>
              </a:rPr>
              <a:t>Потребности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smtClean="0">
                <a:solidFill>
                  <a:schemeClr val="accent5"/>
                </a:solidFill>
              </a:rPr>
              <a:t>среднего бизнеса</a:t>
            </a:r>
            <a:endParaRPr lang="ru-RU" sz="3600" dirty="0">
              <a:solidFill>
                <a:schemeClr val="accent5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3344020"/>
              </p:ext>
            </p:extLst>
          </p:nvPr>
        </p:nvGraphicFramePr>
        <p:xfrm>
          <a:off x="0" y="1845734"/>
          <a:ext cx="11845254" cy="4487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916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3949" y="545284"/>
            <a:ext cx="11501305" cy="1192076"/>
          </a:xfrm>
        </p:spPr>
        <p:txBody>
          <a:bodyPr anchor="ctr">
            <a:noAutofit/>
          </a:bodyPr>
          <a:lstStyle/>
          <a:p>
            <a:pPr algn="ctr"/>
            <a:r>
              <a:rPr lang="ru-RU" dirty="0">
                <a:solidFill>
                  <a:schemeClr val="tx2"/>
                </a:solidFill>
              </a:rPr>
              <a:t>Потребности </a:t>
            </a:r>
            <a:r>
              <a:rPr lang="ru-RU" dirty="0" smtClean="0">
                <a:solidFill>
                  <a:schemeClr val="accent5"/>
                </a:solidFill>
              </a:rPr>
              <a:t>крупного бизнеса </a:t>
            </a:r>
            <a:endParaRPr lang="ru-RU" sz="3600" dirty="0">
              <a:solidFill>
                <a:schemeClr val="accent5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3424534"/>
              </p:ext>
            </p:extLst>
          </p:nvPr>
        </p:nvGraphicFramePr>
        <p:xfrm>
          <a:off x="0" y="1845734"/>
          <a:ext cx="11845254" cy="4487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5310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420" y="2286000"/>
            <a:ext cx="3200400" cy="2286000"/>
          </a:xfrm>
        </p:spPr>
        <p:txBody>
          <a:bodyPr anchor="ctr">
            <a:normAutofit fontScale="90000"/>
          </a:bodyPr>
          <a:lstStyle/>
          <a:p>
            <a:r>
              <a:rPr lang="ru-RU" b="1" dirty="0">
                <a:solidFill>
                  <a:schemeClr val="accent5"/>
                </a:solidFill>
              </a:rPr>
              <a:t>Преимущества </a:t>
            </a:r>
            <a:r>
              <a:rPr lang="ru-RU" b="1" dirty="0">
                <a:solidFill>
                  <a:schemeClr val="tx2"/>
                </a:solidFill>
              </a:rPr>
              <a:t>и</a:t>
            </a:r>
            <a:r>
              <a:rPr lang="ru-RU" b="1" dirty="0">
                <a:solidFill>
                  <a:schemeClr val="accent5"/>
                </a:solidFill>
              </a:rPr>
              <a:t> недостатки </a:t>
            </a:r>
            <a:r>
              <a:rPr lang="ru-RU" b="1" dirty="0" err="1">
                <a:solidFill>
                  <a:schemeClr val="tx2"/>
                </a:solidFill>
              </a:rPr>
              <a:t>ЯндексТрекера</a:t>
            </a:r>
            <a:r>
              <a:rPr lang="ru-RU" b="1" dirty="0">
                <a:solidFill>
                  <a:schemeClr val="tx2"/>
                </a:solidFill>
              </a:rPr>
              <a:t> для разных типов бизнеса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612812"/>
              </p:ext>
            </p:extLst>
          </p:nvPr>
        </p:nvGraphicFramePr>
        <p:xfrm>
          <a:off x="3431098" y="-1"/>
          <a:ext cx="8760905" cy="685800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644242">
                  <a:extLst>
                    <a:ext uri="{9D8B030D-6E8A-4147-A177-3AD203B41FA5}">
                      <a16:colId xmlns:a16="http://schemas.microsoft.com/office/drawing/2014/main" val="3762530405"/>
                    </a:ext>
                  </a:extLst>
                </a:gridCol>
                <a:gridCol w="2315362">
                  <a:extLst>
                    <a:ext uri="{9D8B030D-6E8A-4147-A177-3AD203B41FA5}">
                      <a16:colId xmlns:a16="http://schemas.microsoft.com/office/drawing/2014/main" val="1910090289"/>
                    </a:ext>
                  </a:extLst>
                </a:gridCol>
                <a:gridCol w="2305747">
                  <a:extLst>
                    <a:ext uri="{9D8B030D-6E8A-4147-A177-3AD203B41FA5}">
                      <a16:colId xmlns:a16="http://schemas.microsoft.com/office/drawing/2014/main" val="1140979178"/>
                    </a:ext>
                  </a:extLst>
                </a:gridCol>
                <a:gridCol w="2495554">
                  <a:extLst>
                    <a:ext uri="{9D8B030D-6E8A-4147-A177-3AD203B41FA5}">
                      <a16:colId xmlns:a16="http://schemas.microsoft.com/office/drawing/2014/main" val="1388921335"/>
                    </a:ext>
                  </a:extLst>
                </a:gridCol>
              </a:tblGrid>
              <a:tr h="44726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 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341" marR="6034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Малый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341" marR="6034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Средний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341" marR="6034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Крупный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341" marR="60341" marT="0" marB="0" anchor="ctr"/>
                </a:tc>
                <a:extLst>
                  <a:ext uri="{0D108BD9-81ED-4DB2-BD59-A6C34878D82A}">
                    <a16:rowId xmlns:a16="http://schemas.microsoft.com/office/drawing/2014/main" val="3471230874"/>
                  </a:ext>
                </a:extLst>
              </a:tr>
              <a:tr h="27872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Преимущества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341" marR="60341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Бюджетный тариф с базовым функционалом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Простота освоения (русский интерфейс)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Интеграция с Telegram для уведомлений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341" marR="60341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Гибкие методологии (</a:t>
                      </a:r>
                      <a:r>
                        <a:rPr lang="ru-RU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Agile</a:t>
                      </a: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+ </a:t>
                      </a:r>
                      <a:r>
                        <a:rPr lang="ru-RU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Waterfall</a:t>
                      </a: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Интеграция с </a:t>
                      </a:r>
                      <a:r>
                        <a:rPr lang="ru-RU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Yandex.Cloud</a:t>
                      </a: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и API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Поддержка до 1000 пользователей (бизнес-тарифы)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341" marR="60341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ФСТЭК-совместимость для госсектора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Масштабируемость до 10,000 пользователей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Локализация и техподдержка на русском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341" marR="60341" marT="0" marB="0" anchor="ctr"/>
                </a:tc>
                <a:extLst>
                  <a:ext uri="{0D108BD9-81ED-4DB2-BD59-A6C34878D82A}">
                    <a16:rowId xmlns:a16="http://schemas.microsoft.com/office/drawing/2014/main" val="2452738080"/>
                  </a:ext>
                </a:extLst>
              </a:tr>
              <a:tr h="36234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Недостатки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341" marR="60341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Courier New" panose="02070309020205020404" pitchFamily="49" charset="0"/>
                        <a:buChar char="­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Ограниченные интеграции (нет </a:t>
                      </a:r>
                      <a:r>
                        <a:rPr lang="ru-RU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Slack</a:t>
                      </a: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, </a:t>
                      </a:r>
                      <a:r>
                        <a:rPr lang="ru-RU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Google</a:t>
                      </a: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Workspace</a:t>
                      </a: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Courier New" panose="02070309020205020404" pitchFamily="49" charset="0"/>
                        <a:buChar char="­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Нет мобильных </a:t>
                      </a:r>
                      <a:r>
                        <a:rPr lang="ru-RU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push</a:t>
                      </a: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-уведомлений в бесплатной версии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Courier New" panose="02070309020205020404" pitchFamily="49" charset="0"/>
                        <a:buChar char="­"/>
                      </a:pPr>
                      <a:r>
                        <a:rPr lang="ru-RU" sz="18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Мало функций в бесплатном тарифе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341" marR="60341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Courier New" panose="02070309020205020404" pitchFamily="49" charset="0"/>
                        <a:buChar char="­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Высокая стоимость при 100+ пользователях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Courier New" panose="02070309020205020404" pitchFamily="49" charset="0"/>
                        <a:buChar char="­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Слабая аналитика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Courier New" panose="02070309020205020404" pitchFamily="49" charset="0"/>
                        <a:buChar char="­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Нет готовых решений под CRM/ERP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341" marR="60341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Courier New" panose="02070309020205020404" pitchFamily="49" charset="0"/>
                        <a:buChar char="­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Нет глобальной инфраструктуры (европейские/азиатские серверы)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Courier New" panose="02070309020205020404" pitchFamily="49" charset="0"/>
                        <a:buChar char="­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Сложная миграция с других аналогичных сервисов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Courier New" panose="02070309020205020404" pitchFamily="49" charset="0"/>
                        <a:buChar char="­"/>
                      </a:pP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Нет </a:t>
                      </a:r>
                      <a:r>
                        <a:rPr lang="ru-RU" sz="18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ИИ-аналитики </a:t>
                      </a:r>
                      <a:r>
                        <a:rPr lang="ru-RU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и прогнозирования</a:t>
                      </a:r>
                      <a:endParaRPr lang="ru-RU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341" marR="60341" marT="0" marB="0" anchor="ctr"/>
                </a:tc>
                <a:extLst>
                  <a:ext uri="{0D108BD9-81ED-4DB2-BD59-A6C34878D82A}">
                    <a16:rowId xmlns:a16="http://schemas.microsoft.com/office/drawing/2014/main" val="949869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48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287663"/>
              </p:ext>
            </p:extLst>
          </p:nvPr>
        </p:nvGraphicFramePr>
        <p:xfrm>
          <a:off x="167779" y="185025"/>
          <a:ext cx="11845256" cy="6050247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024522">
                  <a:extLst>
                    <a:ext uri="{9D8B030D-6E8A-4147-A177-3AD203B41FA5}">
                      <a16:colId xmlns:a16="http://schemas.microsoft.com/office/drawing/2014/main" val="3332680379"/>
                    </a:ext>
                  </a:extLst>
                </a:gridCol>
                <a:gridCol w="2546116">
                  <a:extLst>
                    <a:ext uri="{9D8B030D-6E8A-4147-A177-3AD203B41FA5}">
                      <a16:colId xmlns:a16="http://schemas.microsoft.com/office/drawing/2014/main" val="3366212800"/>
                    </a:ext>
                  </a:extLst>
                </a:gridCol>
                <a:gridCol w="2283891">
                  <a:extLst>
                    <a:ext uri="{9D8B030D-6E8A-4147-A177-3AD203B41FA5}">
                      <a16:colId xmlns:a16="http://schemas.microsoft.com/office/drawing/2014/main" val="1385372715"/>
                    </a:ext>
                  </a:extLst>
                </a:gridCol>
                <a:gridCol w="2182386">
                  <a:extLst>
                    <a:ext uri="{9D8B030D-6E8A-4147-A177-3AD203B41FA5}">
                      <a16:colId xmlns:a16="http://schemas.microsoft.com/office/drawing/2014/main" val="3396635980"/>
                    </a:ext>
                  </a:extLst>
                </a:gridCol>
                <a:gridCol w="2808341">
                  <a:extLst>
                    <a:ext uri="{9D8B030D-6E8A-4147-A177-3AD203B41FA5}">
                      <a16:colId xmlns:a16="http://schemas.microsoft.com/office/drawing/2014/main" val="990537825"/>
                    </a:ext>
                  </a:extLst>
                </a:gridCol>
              </a:tblGrid>
              <a:tr h="44217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accent5"/>
                          </a:solidFill>
                          <a:effectLst/>
                        </a:rPr>
                        <a:t>ЯндексТрекер</a:t>
                      </a:r>
                      <a:endParaRPr lang="ru-RU" sz="160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accent5"/>
                          </a:solidFill>
                          <a:effectLst/>
                        </a:rPr>
                        <a:t>Asana</a:t>
                      </a:r>
                      <a:endParaRPr lang="ru-RU" sz="160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accent5"/>
                          </a:solidFill>
                          <a:effectLst/>
                        </a:rPr>
                        <a:t>Bitrix24</a:t>
                      </a:r>
                      <a:endParaRPr lang="ru-RU" sz="1600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solidFill>
                            <a:schemeClr val="accent5"/>
                          </a:solidFill>
                          <a:effectLst/>
                        </a:rPr>
                        <a:t>Jira</a:t>
                      </a:r>
                      <a:endParaRPr lang="ru-RU" sz="1600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542734"/>
                  </a:ext>
                </a:extLst>
              </a:tr>
              <a:tr h="1723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accent5"/>
                          </a:solidFill>
                          <a:effectLst/>
                        </a:rPr>
                        <a:t>Описание, специализация</a:t>
                      </a:r>
                      <a:endParaRPr lang="ru-RU" sz="1600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Система для разработчиков с визуализацией и автоматизацией: управление IT-проектами, </a:t>
                      </a: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Agile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Креативная система для небольших творческих коллективов: гибкое управление проектами (маркетинг, продажи)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Корпоративный портал и CRM для сложных бизнес-процессов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Система-номер-один для разработчиков, самая закупаемая в России по нашим оценкам: IT-разработка (</a:t>
                      </a: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Agile</a:t>
                      </a: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DevOps</a:t>
                      </a: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)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807900"/>
                  </a:ext>
                </a:extLst>
              </a:tr>
              <a:tr h="7147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accent5"/>
                          </a:solidFill>
                          <a:effectLst/>
                        </a:rPr>
                        <a:t>Целевая аудитория</a:t>
                      </a:r>
                      <a:endParaRPr lang="ru-RU" sz="1600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Любой тип российского бизнеса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Для любого типа международного бизнеса 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tx2"/>
                          </a:solidFill>
                          <a:effectLst/>
                        </a:rPr>
                        <a:t>Бизнес с CRM-нуждами (Россия/СНГ)</a:t>
                      </a:r>
                      <a:endParaRPr lang="ru-RU" sz="160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tx2"/>
                          </a:solidFill>
                          <a:effectLst/>
                        </a:rPr>
                        <a:t>Технические команды: разработчики, тестировщики</a:t>
                      </a:r>
                      <a:endParaRPr lang="ru-RU" sz="160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793096"/>
                  </a:ext>
                </a:extLst>
              </a:tr>
              <a:tr h="1111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accent5"/>
                          </a:solidFill>
                          <a:effectLst/>
                        </a:rPr>
                        <a:t>Стоимость тарифа в месяц за пользователя </a:t>
                      </a:r>
                      <a:r>
                        <a:rPr lang="ru-RU" sz="1600" u="sng" dirty="0">
                          <a:solidFill>
                            <a:schemeClr val="accent5"/>
                          </a:solidFill>
                          <a:effectLst/>
                        </a:rPr>
                        <a:t>в </a:t>
                      </a:r>
                      <a:r>
                        <a:rPr lang="ru-RU" sz="1600" u="sng" dirty="0" smtClean="0">
                          <a:solidFill>
                            <a:schemeClr val="accent5"/>
                          </a:solidFill>
                          <a:effectLst/>
                        </a:rPr>
                        <a:t>рублях</a:t>
                      </a:r>
                      <a:r>
                        <a:rPr lang="ru-RU" sz="1600" u="none" baseline="0" dirty="0" smtClean="0">
                          <a:solidFill>
                            <a:schemeClr val="accent5"/>
                          </a:solidFill>
                          <a:effectLst/>
                        </a:rPr>
                        <a:t> </a:t>
                      </a:r>
                      <a:r>
                        <a:rPr lang="ru-RU" sz="1600" dirty="0" smtClean="0">
                          <a:solidFill>
                            <a:schemeClr val="accent5"/>
                          </a:solidFill>
                          <a:effectLst/>
                        </a:rPr>
                        <a:t>(1</a:t>
                      </a:r>
                      <a:r>
                        <a:rPr lang="ru-RU" sz="1600" dirty="0">
                          <a:solidFill>
                            <a:schemeClr val="accent5"/>
                          </a:solidFill>
                          <a:effectLst/>
                        </a:rPr>
                        <a:t>$ ≈ 87₽)</a:t>
                      </a:r>
                      <a:endParaRPr lang="ru-RU" sz="1600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от </a:t>
                      </a:r>
                      <a:r>
                        <a:rPr lang="ru-RU" sz="1600" dirty="0" smtClean="0">
                          <a:solidFill>
                            <a:schemeClr val="tx2"/>
                          </a:solidFill>
                          <a:effectLst/>
                        </a:rPr>
                        <a:t>440 </a:t>
                      </a: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₽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от 950 ₽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от 99 ₽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tx2"/>
                          </a:solidFill>
                          <a:effectLst/>
                        </a:rPr>
                        <a:t>от 690 ₽</a:t>
                      </a:r>
                      <a:endParaRPr lang="ru-RU" sz="160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527780"/>
                  </a:ext>
                </a:extLst>
              </a:tr>
              <a:tr h="7648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accent5"/>
                          </a:solidFill>
                          <a:effectLst/>
                        </a:rPr>
                        <a:t>Возможное количество пользователей</a:t>
                      </a:r>
                      <a:endParaRPr lang="ru-RU" sz="1600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tx2"/>
                          </a:solidFill>
                          <a:effectLst/>
                        </a:rPr>
                        <a:t>До 10,000</a:t>
                      </a:r>
                      <a:endParaRPr lang="ru-RU" sz="160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tx2"/>
                          </a:solidFill>
                          <a:effectLst/>
                        </a:rPr>
                        <a:t>До 15,000</a:t>
                      </a:r>
                      <a:endParaRPr lang="ru-RU" sz="160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До 1000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tx2"/>
                          </a:solidFill>
                          <a:effectLst/>
                        </a:rPr>
                        <a:t>Неограниченно</a:t>
                      </a:r>
                      <a:endParaRPr lang="ru-RU" sz="160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533898"/>
                  </a:ext>
                </a:extLst>
              </a:tr>
              <a:tr h="4765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accent5"/>
                          </a:solidFill>
                          <a:effectLst/>
                        </a:rPr>
                        <a:t>Методология</a:t>
                      </a:r>
                      <a:endParaRPr lang="ru-RU" sz="160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Scrum</a:t>
                      </a: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Kanban</a:t>
                      </a: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Waterfall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tx2"/>
                          </a:solidFill>
                          <a:effectLst/>
                        </a:rPr>
                        <a:t>Kanban, </a:t>
                      </a:r>
                      <a:r>
                        <a:rPr lang="en-US" sz="1600">
                          <a:solidFill>
                            <a:schemeClr val="tx2"/>
                          </a:solidFill>
                          <a:effectLst/>
                        </a:rPr>
                        <a:t>Timeline</a:t>
                      </a:r>
                      <a:endParaRPr lang="ru-RU" sz="160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Kanban</a:t>
                      </a: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Waterfall</a:t>
                      </a: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Gantt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Scrum</a:t>
                      </a: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Kanban</a:t>
                      </a: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SAFe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962576"/>
                  </a:ext>
                </a:extLst>
              </a:tr>
              <a:tr h="7648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accent5"/>
                          </a:solidFill>
                          <a:effectLst/>
                        </a:rPr>
                        <a:t>Интеграция со сторонними платформами</a:t>
                      </a:r>
                      <a:endParaRPr lang="ru-RU" sz="1600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tx2"/>
                          </a:solidFill>
                          <a:effectLst/>
                        </a:rPr>
                        <a:t>Yandex.Cloud, API, Git, Telegram</a:t>
                      </a:r>
                      <a:endParaRPr lang="ru-RU" sz="160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tx2"/>
                          </a:solidFill>
                          <a:effectLst/>
                        </a:rPr>
                        <a:t>Slack, Google Workspace, Salesforce</a:t>
                      </a:r>
                      <a:endParaRPr lang="ru-RU" sz="160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1С, Telegram, </a:t>
                      </a: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WhatsApp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GitHub</a:t>
                      </a: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Confluence</a:t>
                      </a: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tx2"/>
                          </a:solidFill>
                          <a:effectLst/>
                        </a:rPr>
                        <a:t>Slack</a:t>
                      </a:r>
                      <a:r>
                        <a:rPr lang="ru-RU" sz="1600" dirty="0">
                          <a:solidFill>
                            <a:schemeClr val="tx2"/>
                          </a:solidFill>
                          <a:effectLst/>
                        </a:rPr>
                        <a:t>, 3000+ приложений</a:t>
                      </a:r>
                      <a:endParaRPr lang="ru-RU" sz="16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372683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369098" y="6360764"/>
            <a:ext cx="115404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accent5"/>
                </a:solidFill>
              </a:rPr>
              <a:t>Сравнение </a:t>
            </a:r>
            <a:r>
              <a:rPr lang="ru-RU" sz="2400" b="1" dirty="0" err="1">
                <a:solidFill>
                  <a:schemeClr val="accent5"/>
                </a:solidFill>
              </a:rPr>
              <a:t>ЯндексТрекера</a:t>
            </a:r>
            <a:r>
              <a:rPr lang="ru-RU" sz="2400" b="1" dirty="0">
                <a:solidFill>
                  <a:schemeClr val="accent5"/>
                </a:solidFill>
              </a:rPr>
              <a:t> с наиболее применяемыми сервисами по управлению </a:t>
            </a:r>
            <a:r>
              <a:rPr lang="ru-RU" sz="2400" dirty="0">
                <a:solidFill>
                  <a:schemeClr val="tx2"/>
                </a:solidFill>
              </a:rPr>
              <a:t>проектами </a:t>
            </a:r>
          </a:p>
        </p:txBody>
      </p:sp>
    </p:spTree>
    <p:extLst>
      <p:ext uri="{BB962C8B-B14F-4D97-AF65-F5344CB8AC3E}">
        <p14:creationId xmlns:p14="http://schemas.microsoft.com/office/powerpoint/2010/main" val="359263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3949" y="286603"/>
            <a:ext cx="11501305" cy="1542197"/>
          </a:xfr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ru-RU" sz="3600" dirty="0" smtClean="0">
                <a:solidFill>
                  <a:schemeClr val="tx2"/>
                </a:solidFill>
              </a:rPr>
              <a:t>Как повысить привлекательность </a:t>
            </a:r>
            <a:r>
              <a:rPr lang="ru-RU" sz="3600" dirty="0" err="1" smtClean="0">
                <a:solidFill>
                  <a:schemeClr val="tx2"/>
                </a:solidFill>
              </a:rPr>
              <a:t>ЯндексТрекера</a:t>
            </a:r>
            <a:r>
              <a:rPr lang="ru-RU" sz="3600" dirty="0" smtClean="0">
                <a:solidFill>
                  <a:schemeClr val="tx2"/>
                </a:solidFill>
              </a:rPr>
              <a:t> на рынке сервисов по управлению проектами?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929468"/>
            <a:ext cx="10058400" cy="4404220"/>
          </a:xfrm>
        </p:spPr>
        <p:txBody>
          <a:bodyPr>
            <a:normAutofit lnSpcReduction="10000"/>
          </a:bodyPr>
          <a:lstStyle/>
          <a:p>
            <a:pPr marL="457200" indent="-457200">
              <a:buClr>
                <a:schemeClr val="accent5"/>
              </a:buClr>
              <a:buFont typeface="+mj-lt"/>
              <a:buAutoNum type="arabicParenR"/>
            </a:pPr>
            <a:r>
              <a:rPr lang="ru-RU" u="sng" dirty="0" smtClean="0">
                <a:solidFill>
                  <a:schemeClr val="accent5"/>
                </a:solidFill>
              </a:rPr>
              <a:t>Внедрить </a:t>
            </a:r>
            <a:r>
              <a:rPr lang="ru-RU" u="sng" dirty="0">
                <a:solidFill>
                  <a:schemeClr val="accent5"/>
                </a:solidFill>
              </a:rPr>
              <a:t>ИИ</a:t>
            </a:r>
            <a:r>
              <a:rPr lang="ru-RU" dirty="0">
                <a:solidFill>
                  <a:schemeClr val="accent5"/>
                </a:solidFill>
              </a:rPr>
              <a:t>:</a:t>
            </a:r>
          </a:p>
          <a:p>
            <a:pPr marL="635508" lvl="1" indent="-3429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tx2"/>
                </a:solidFill>
              </a:rPr>
              <a:t>ИИ-ассистент для автоматического назначения задач (анализ загрузки сотрудников, сроков).</a:t>
            </a:r>
          </a:p>
          <a:p>
            <a:pPr marL="635508" lvl="1" indent="-3429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tx2"/>
                </a:solidFill>
              </a:rPr>
              <a:t>Прогнозирование сроков на основе имеющихся данных.</a:t>
            </a:r>
          </a:p>
          <a:p>
            <a:pPr marL="635508" lvl="1" indent="-3429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tx2"/>
                </a:solidFill>
              </a:rPr>
              <a:t>Умные шаблоны проектов (генерация структуры задач по описанию цели).</a:t>
            </a:r>
          </a:p>
          <a:p>
            <a:pPr marL="457200" indent="-457200">
              <a:buClr>
                <a:schemeClr val="accent5"/>
              </a:buClr>
              <a:buFont typeface="+mj-lt"/>
              <a:buAutoNum type="arabicParenR"/>
            </a:pPr>
            <a:r>
              <a:rPr lang="ru-RU" sz="2100" u="sng" dirty="0">
                <a:solidFill>
                  <a:schemeClr val="accent5"/>
                </a:solidFill>
              </a:rPr>
              <a:t>Расширить интеграции</a:t>
            </a:r>
            <a:r>
              <a:rPr lang="ru-RU" sz="2100" dirty="0">
                <a:solidFill>
                  <a:schemeClr val="accent5"/>
                </a:solidFill>
              </a:rPr>
              <a:t>: </a:t>
            </a:r>
            <a:r>
              <a:rPr lang="ru-RU" sz="2100" dirty="0">
                <a:solidFill>
                  <a:schemeClr val="tx2"/>
                </a:solidFill>
              </a:rPr>
              <a:t>готовые плагины для 1С, SAP, Telegram, </a:t>
            </a:r>
            <a:r>
              <a:rPr lang="ru-RU" sz="2100" dirty="0" err="1">
                <a:solidFill>
                  <a:schemeClr val="tx2"/>
                </a:solidFill>
              </a:rPr>
              <a:t>WhatsApp</a:t>
            </a:r>
            <a:r>
              <a:rPr lang="ru-RU" sz="2100" dirty="0">
                <a:solidFill>
                  <a:schemeClr val="tx2"/>
                </a:solidFill>
              </a:rPr>
              <a:t>, </a:t>
            </a:r>
            <a:r>
              <a:rPr lang="ru-RU" sz="2100" dirty="0" err="1">
                <a:solidFill>
                  <a:schemeClr val="tx2"/>
                </a:solidFill>
              </a:rPr>
              <a:t>Google</a:t>
            </a:r>
            <a:r>
              <a:rPr lang="ru-RU" sz="2100" dirty="0">
                <a:solidFill>
                  <a:schemeClr val="tx2"/>
                </a:solidFill>
              </a:rPr>
              <a:t> </a:t>
            </a:r>
            <a:r>
              <a:rPr lang="ru-RU" sz="2100" dirty="0" err="1" smtClean="0">
                <a:solidFill>
                  <a:schemeClr val="tx2"/>
                </a:solidFill>
              </a:rPr>
              <a:t>Workspace</a:t>
            </a:r>
            <a:r>
              <a:rPr lang="ru-RU" sz="2100" dirty="0" smtClean="0">
                <a:solidFill>
                  <a:schemeClr val="tx2"/>
                </a:solidFill>
              </a:rPr>
              <a:t>.</a:t>
            </a:r>
            <a:endParaRPr lang="ru-RU" sz="2100" dirty="0">
              <a:solidFill>
                <a:schemeClr val="tx2"/>
              </a:solidFill>
            </a:endParaRPr>
          </a:p>
          <a:p>
            <a:pPr marL="457200" indent="-457200">
              <a:buClr>
                <a:schemeClr val="accent5"/>
              </a:buClr>
              <a:buFont typeface="+mj-lt"/>
              <a:buAutoNum type="arabicParenR"/>
            </a:pPr>
            <a:r>
              <a:rPr lang="ru-RU" sz="2100" u="sng" dirty="0">
                <a:solidFill>
                  <a:schemeClr val="accent5"/>
                </a:solidFill>
              </a:rPr>
              <a:t>Расширить возможности бесплатного тарифа</a:t>
            </a:r>
            <a:r>
              <a:rPr lang="ru-RU" sz="2100" dirty="0">
                <a:solidFill>
                  <a:schemeClr val="accent5"/>
                </a:solidFill>
              </a:rPr>
              <a:t>: </a:t>
            </a:r>
          </a:p>
          <a:p>
            <a:pPr marL="635508" lvl="1" indent="-3429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tx2"/>
                </a:solidFill>
              </a:rPr>
              <a:t>Увеличить количество пользователей и объем облачного хранилища.</a:t>
            </a:r>
          </a:p>
          <a:p>
            <a:pPr marL="635508" lvl="1" indent="-3429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tx2"/>
                </a:solidFill>
              </a:rPr>
              <a:t>Мини-CRM модуль: возможность управлять взаимодействием с клиентами и сделками без перехода в другие системы.</a:t>
            </a:r>
          </a:p>
          <a:p>
            <a:pPr marL="457200" indent="-457200">
              <a:buClr>
                <a:schemeClr val="accent5"/>
              </a:buClr>
              <a:buFont typeface="+mj-lt"/>
              <a:buAutoNum type="arabicParenR"/>
            </a:pPr>
            <a:r>
              <a:rPr lang="ru-RU" sz="2100" u="sng" dirty="0">
                <a:solidFill>
                  <a:schemeClr val="accent5"/>
                </a:solidFill>
              </a:rPr>
              <a:t>Финансовый трекинг</a:t>
            </a:r>
            <a:r>
              <a:rPr lang="ru-RU" sz="2100" dirty="0">
                <a:solidFill>
                  <a:schemeClr val="accent5"/>
                </a:solidFill>
              </a:rPr>
              <a:t>: </a:t>
            </a:r>
            <a:r>
              <a:rPr lang="ru-RU" sz="2100" dirty="0">
                <a:solidFill>
                  <a:schemeClr val="tx2"/>
                </a:solidFill>
              </a:rPr>
              <a:t>привязать задачи к бюджету, чтобы контролировать расходы в рамках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56876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878584"/>
              </p:ext>
            </p:extLst>
          </p:nvPr>
        </p:nvGraphicFramePr>
        <p:xfrm>
          <a:off x="177567" y="1215953"/>
          <a:ext cx="11836865" cy="463861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835215">
                  <a:extLst>
                    <a:ext uri="{9D8B030D-6E8A-4147-A177-3AD203B41FA5}">
                      <a16:colId xmlns:a16="http://schemas.microsoft.com/office/drawing/2014/main" val="75144630"/>
                    </a:ext>
                  </a:extLst>
                </a:gridCol>
                <a:gridCol w="6001650">
                  <a:extLst>
                    <a:ext uri="{9D8B030D-6E8A-4147-A177-3AD203B41FA5}">
                      <a16:colId xmlns:a16="http://schemas.microsoft.com/office/drawing/2014/main" val="3174134796"/>
                    </a:ext>
                  </a:extLst>
                </a:gridCol>
              </a:tblGrid>
              <a:tr h="4018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chemeClr val="tx2"/>
                          </a:solidFill>
                          <a:effectLst/>
                        </a:rPr>
                        <a:t>Проблема</a:t>
                      </a:r>
                      <a:endParaRPr lang="ru-RU" sz="2000" b="1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chemeClr val="tx2"/>
                          </a:solidFill>
                          <a:effectLst/>
                        </a:rPr>
                        <a:t>Способы преодоления</a:t>
                      </a:r>
                      <a:endParaRPr lang="ru-RU" sz="2000" b="1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3274629"/>
                  </a:ext>
                </a:extLst>
              </a:tr>
              <a:tr h="118931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2000" u="sng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Сложность интеграции ИИ с HR-системами</a:t>
                      </a:r>
                      <a:r>
                        <a:rPr lang="ru-RU" sz="20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Для анализа загрузки сотрудников нужен доступ к кадровым данным (графики, отпуска, больничные), что может быть затруднено из-за политики безопасности.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ru-RU" sz="20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Разработать API-шлюзы для безопасного доступа к данным о занятости сотрудников.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ru-RU" sz="20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Дать пользователям возможность корректировать рекомендации ИИ (чтобы избежать слепого доверия алгоритмам).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707782"/>
                  </a:ext>
                </a:extLst>
              </a:tr>
              <a:tr h="571425">
                <a:tc>
                  <a:txBody>
                    <a:bodyPr/>
                    <a:lstStyle/>
                    <a:p>
                      <a:r>
                        <a:rPr lang="ru-RU" sz="2000" u="sng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Сложность учета всех расходов</a:t>
                      </a:r>
                      <a:r>
                        <a:rPr lang="ru-RU" sz="20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если бюджет проекта зависит от внешних систем (например, банковских выписок), потребуется сложная интеграция.</a:t>
                      </a:r>
                      <a:endParaRPr lang="ru-RU" sz="2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ru-RU" sz="2000" dirty="0" smtClean="0">
                          <a:solidFill>
                            <a:schemeClr val="tx2"/>
                          </a:solidFill>
                        </a:rPr>
                        <a:t>API для синхронизации с бухгалтерскими сервисами.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ru-RU" sz="2000" dirty="0" smtClean="0">
                          <a:solidFill>
                            <a:schemeClr val="tx2"/>
                          </a:solidFill>
                        </a:rPr>
                        <a:t>Поддержка XLSX для переноса контактов и сделок из других CRM.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742105"/>
                  </a:ext>
                </a:extLst>
              </a:tr>
              <a:tr h="91273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+mj-lt"/>
                        <a:buNone/>
                      </a:pPr>
                      <a:r>
                        <a:rPr lang="ru-RU" sz="2000" u="sng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Риск злоупотребления </a:t>
                      </a:r>
                      <a:r>
                        <a:rPr lang="ru-RU" sz="2000" u="sng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бесплатным тарифом</a:t>
                      </a:r>
                      <a:r>
                        <a:rPr lang="ru-RU" sz="20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компании могут создавать </a:t>
                      </a:r>
                      <a:r>
                        <a:rPr lang="ru-RU" sz="2000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фейковые</a:t>
                      </a:r>
                      <a:r>
                        <a:rPr lang="ru-RU" sz="20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аккаунты, отсюда больше затрат на поддержание инфраструктуры.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ru-RU" sz="20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Оставить продвинутые функции для платного</a:t>
                      </a: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тарифа</a:t>
                      </a:r>
                      <a:r>
                        <a:rPr lang="ru-RU" sz="20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(например, ИИ-анализ).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ru-RU" sz="20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При превышении</a:t>
                      </a: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лимита </a:t>
                      </a:r>
                      <a:r>
                        <a:rPr lang="ru-RU" sz="200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скорость</a:t>
                      </a: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работы </a:t>
                      </a:r>
                      <a:r>
                        <a:rPr lang="ru-RU" sz="2000" kern="1200" baseline="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трекера</a:t>
                      </a: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и предложить перейти на платный тариф.</a:t>
                      </a:r>
                      <a:endParaRPr lang="ru-RU" sz="200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954199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28569" y="251670"/>
            <a:ext cx="11534862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4000" dirty="0" smtClean="0">
                <a:solidFill>
                  <a:schemeClr val="accent5"/>
                </a:solidFill>
              </a:rPr>
              <a:t>Технические барьеры</a:t>
            </a:r>
            <a:endParaRPr lang="ru-RU" sz="4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080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747276"/>
              </p:ext>
            </p:extLst>
          </p:nvPr>
        </p:nvGraphicFramePr>
        <p:xfrm>
          <a:off x="332764" y="1057980"/>
          <a:ext cx="11526471" cy="445431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682143">
                  <a:extLst>
                    <a:ext uri="{9D8B030D-6E8A-4147-A177-3AD203B41FA5}">
                      <a16:colId xmlns:a16="http://schemas.microsoft.com/office/drawing/2014/main" val="75144630"/>
                    </a:ext>
                  </a:extLst>
                </a:gridCol>
                <a:gridCol w="5844328">
                  <a:extLst>
                    <a:ext uri="{9D8B030D-6E8A-4147-A177-3AD203B41FA5}">
                      <a16:colId xmlns:a16="http://schemas.microsoft.com/office/drawing/2014/main" val="3174134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2"/>
                          </a:solidFill>
                          <a:effectLst/>
                        </a:rPr>
                        <a:t>Проблема</a:t>
                      </a:r>
                      <a:endParaRPr lang="ru-RU" sz="20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2"/>
                          </a:solidFill>
                          <a:effectLst/>
                        </a:rPr>
                        <a:t>Способы преодоления</a:t>
                      </a:r>
                      <a:endParaRPr lang="ru-RU" sz="20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3274629"/>
                  </a:ext>
                </a:extLst>
              </a:tr>
              <a:tr h="1397489">
                <a:tc>
                  <a:txBody>
                    <a:bodyPr/>
                    <a:lstStyle/>
                    <a:p>
                      <a:r>
                        <a:rPr lang="ru-RU" sz="2000" u="sng" dirty="0" smtClean="0">
                          <a:solidFill>
                            <a:schemeClr val="tx2"/>
                          </a:solidFill>
                        </a:rPr>
                        <a:t>Консервативность сотрудников</a:t>
                      </a:r>
                      <a:r>
                        <a:rPr lang="ru-RU" sz="2000" dirty="0" smtClean="0">
                          <a:solidFill>
                            <a:schemeClr val="tx2"/>
                          </a:solidFill>
                        </a:rPr>
                        <a:t>:</a:t>
                      </a:r>
                    </a:p>
                    <a:p>
                      <a:r>
                        <a:rPr lang="ru-RU" sz="2000" dirty="0" smtClean="0">
                          <a:solidFill>
                            <a:schemeClr val="tx2"/>
                          </a:solidFill>
                        </a:rPr>
                        <a:t>Сотрудники могут отказываться</a:t>
                      </a:r>
                      <a:r>
                        <a:rPr lang="ru-RU" sz="2000" baseline="0" dirty="0" smtClean="0">
                          <a:solidFill>
                            <a:schemeClr val="tx2"/>
                          </a:solidFill>
                        </a:rPr>
                        <a:t> работать с нововведениями, так как привыкли к старым инструментам (например, </a:t>
                      </a:r>
                      <a:r>
                        <a:rPr lang="ru-RU" sz="2000" baseline="0" dirty="0" err="1" smtClean="0">
                          <a:solidFill>
                            <a:schemeClr val="tx2"/>
                          </a:solidFill>
                        </a:rPr>
                        <a:t>Excel</a:t>
                      </a:r>
                      <a:r>
                        <a:rPr lang="ru-RU" sz="2000" baseline="0" dirty="0" smtClean="0">
                          <a:solidFill>
                            <a:schemeClr val="tx2"/>
                          </a:solidFill>
                        </a:rPr>
                        <a:t>). </a:t>
                      </a:r>
                      <a:endParaRPr lang="ru-RU" sz="200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ru-RU" sz="2000" dirty="0" smtClean="0">
                          <a:solidFill>
                            <a:schemeClr val="tx2"/>
                          </a:solidFill>
                        </a:rPr>
                        <a:t>Проводить </a:t>
                      </a:r>
                      <a:r>
                        <a:rPr lang="ru-RU" sz="2000" dirty="0" err="1" smtClean="0">
                          <a:solidFill>
                            <a:schemeClr val="tx2"/>
                          </a:solidFill>
                        </a:rPr>
                        <a:t>вебинары</a:t>
                      </a:r>
                      <a:r>
                        <a:rPr lang="ru-RU" sz="2000" dirty="0" smtClean="0">
                          <a:solidFill>
                            <a:schemeClr val="tx2"/>
                          </a:solidFill>
                        </a:rPr>
                        <a:t>, показывать реальные кейсы, например, как ИИ упрощает работу.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ru-RU" sz="2000" dirty="0" smtClean="0">
                          <a:solidFill>
                            <a:schemeClr val="tx2"/>
                          </a:solidFill>
                        </a:rPr>
                        <a:t>Начислять баллы за активное использование новых функций.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ru-RU" sz="2000" dirty="0" smtClean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7032852"/>
                  </a:ext>
                </a:extLst>
              </a:tr>
              <a:tr h="1293335">
                <a:tc>
                  <a:txBody>
                    <a:bodyPr/>
                    <a:lstStyle/>
                    <a:p>
                      <a:r>
                        <a:rPr lang="ru-RU" sz="2000" u="sng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Юридические ограничения</a:t>
                      </a: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Интеграция с </a:t>
                      </a:r>
                      <a:r>
                        <a:rPr lang="ru-RU" sz="2000" kern="1200" baseline="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WhatsApp</a:t>
                      </a: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/Telegram требует соблюдения безопасности персональных данных</a:t>
                      </a:r>
                      <a:endParaRPr lang="ru-RU" sz="2000" kern="1200" baseline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arenR"/>
                      </a:pP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Использовать только официальные API (</a:t>
                      </a:r>
                      <a:r>
                        <a:rPr lang="ru-RU" sz="2000" kern="1200" baseline="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WhatsApp</a:t>
                      </a: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baseline="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Business</a:t>
                      </a: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Telegram </a:t>
                      </a:r>
                      <a:r>
                        <a:rPr lang="ru-RU" sz="2000" kern="1200" baseline="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Bot</a:t>
                      </a: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API).</a:t>
                      </a:r>
                    </a:p>
                    <a:p>
                      <a:pPr marL="457200" indent="-457200">
                        <a:buFont typeface="+mj-lt"/>
                        <a:buAutoNum type="arabicParenR"/>
                      </a:pP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Пройти аудит безопасности данных GDPR.</a:t>
                      </a:r>
                    </a:p>
                    <a:p>
                      <a:pPr marL="457200" indent="-457200">
                        <a:buFont typeface="+mj-lt"/>
                        <a:buAutoNum type="arabicParenR"/>
                      </a:pP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Получить ФСТЭК-сертификацию.</a:t>
                      </a:r>
                      <a:endParaRPr lang="ru-RU" sz="2000" kern="1200" baseline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205545"/>
                  </a:ext>
                </a:extLst>
              </a:tr>
              <a:tr h="1183051">
                <a:tc>
                  <a:txBody>
                    <a:bodyPr/>
                    <a:lstStyle/>
                    <a:p>
                      <a:r>
                        <a:rPr lang="ru-RU" sz="2000" u="sng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Недоверие к </a:t>
                      </a:r>
                      <a:r>
                        <a:rPr lang="ru-RU" sz="2000" u="sng" kern="1200" baseline="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ЯндексТрекеру</a:t>
                      </a: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потому что</a:t>
                      </a:r>
                    </a:p>
                    <a:p>
                      <a:r>
                        <a:rPr lang="ru-RU" sz="2000" kern="1200" baseline="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Jira</a:t>
                      </a: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2000" kern="1200" baseline="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Asana</a:t>
                      </a: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2000" kern="1200" baseline="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ClickUp</a:t>
                      </a:r>
                      <a:r>
                        <a:rPr lang="ru-RU" sz="200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воспринимаются как более "продвинутые".</a:t>
                      </a:r>
                      <a:endParaRPr lang="ru-RU" sz="2000" kern="1200" baseline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ru-RU" sz="2000" dirty="0" smtClean="0">
                          <a:solidFill>
                            <a:schemeClr val="tx2"/>
                          </a:solidFill>
                        </a:rPr>
                        <a:t>Акцент на уникальных</a:t>
                      </a:r>
                      <a:r>
                        <a:rPr lang="ru-RU" sz="2000" baseline="0" dirty="0" smtClean="0">
                          <a:solidFill>
                            <a:schemeClr val="tx2"/>
                          </a:solidFill>
                        </a:rPr>
                        <a:t> функциях, например: ИИ</a:t>
                      </a:r>
                      <a:r>
                        <a:rPr lang="ru-RU" sz="2000" dirty="0" smtClean="0">
                          <a:solidFill>
                            <a:schemeClr val="tx2"/>
                          </a:solidFill>
                        </a:rPr>
                        <a:t>-ассистент, интеграция с экосистемой Яндекса.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5432238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332764" y="257853"/>
            <a:ext cx="11526471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ru-RU" sz="4000" dirty="0">
                <a:solidFill>
                  <a:schemeClr val="accent5"/>
                </a:solidFill>
              </a:rPr>
              <a:t>Организационные барьеры</a:t>
            </a:r>
          </a:p>
        </p:txBody>
      </p:sp>
    </p:spTree>
    <p:extLst>
      <p:ext uri="{BB962C8B-B14F-4D97-AF65-F5344CB8AC3E}">
        <p14:creationId xmlns:p14="http://schemas.microsoft.com/office/powerpoint/2010/main" val="3779661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536895"/>
            <a:ext cx="10058400" cy="1182847"/>
          </a:xfrm>
        </p:spPr>
        <p:txBody>
          <a:bodyPr anchor="ctr"/>
          <a:lstStyle/>
          <a:p>
            <a:pPr algn="ctr"/>
            <a:r>
              <a:rPr lang="ru-RU" dirty="0" smtClean="0">
                <a:solidFill>
                  <a:schemeClr val="tx2"/>
                </a:solidFill>
              </a:rPr>
              <a:t>Источники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97279" y="2274838"/>
            <a:ext cx="1005840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chemeClr val="accent5"/>
                </a:solidFill>
                <a:hlinkClick r:id="rId2"/>
              </a:rPr>
              <a:t>https://www.gazprombank.ru/pro-finance/business/tipy-biznesa-malyy-sredniy-i-krupnyy</a:t>
            </a:r>
            <a:r>
              <a:rPr lang="ru-RU" sz="2000" dirty="0" smtClean="0">
                <a:solidFill>
                  <a:schemeClr val="accent5"/>
                </a:solidFill>
                <a:hlinkClick r:id="rId2"/>
              </a:rPr>
              <a:t>/</a:t>
            </a:r>
            <a:r>
              <a:rPr lang="ru-RU" sz="2000" dirty="0" smtClean="0">
                <a:solidFill>
                  <a:schemeClr val="accent5"/>
                </a:solidFill>
              </a:rPr>
              <a:t>  </a:t>
            </a:r>
            <a:r>
              <a:rPr lang="ru-RU" sz="2000" dirty="0" smtClean="0">
                <a:solidFill>
                  <a:schemeClr val="accent5"/>
                </a:solidFill>
                <a:hlinkClick r:id="rId3"/>
              </a:rPr>
              <a:t>https</a:t>
            </a:r>
            <a:r>
              <a:rPr lang="ru-RU" sz="2000" dirty="0">
                <a:solidFill>
                  <a:schemeClr val="accent5"/>
                </a:solidFill>
                <a:hlinkClick r:id="rId3"/>
              </a:rPr>
              <a:t>://habr.com/ru/companies/yougile/articles/545614</a:t>
            </a:r>
            <a:r>
              <a:rPr lang="ru-RU" sz="2000" dirty="0" smtClean="0">
                <a:solidFill>
                  <a:schemeClr val="accent5"/>
                </a:solidFill>
                <a:hlinkClick r:id="rId3"/>
              </a:rPr>
              <a:t>/</a:t>
            </a:r>
            <a:r>
              <a:rPr lang="ru-RU" sz="2000" dirty="0" smtClean="0">
                <a:solidFill>
                  <a:schemeClr val="accent5"/>
                </a:solidFill>
              </a:rPr>
              <a:t> </a:t>
            </a:r>
            <a:endParaRPr lang="ru-RU" sz="2000" dirty="0">
              <a:solidFill>
                <a:schemeClr val="accent5"/>
              </a:solidFill>
            </a:endParaRPr>
          </a:p>
          <a:p>
            <a:pPr algn="just"/>
            <a:r>
              <a:rPr lang="ru-RU" sz="2000" dirty="0">
                <a:solidFill>
                  <a:schemeClr val="accent5"/>
                </a:solidFill>
                <a:hlinkClick r:id="rId4"/>
              </a:rPr>
              <a:t>https://</a:t>
            </a:r>
            <a:r>
              <a:rPr lang="ru-RU" sz="2000" dirty="0" smtClean="0">
                <a:solidFill>
                  <a:schemeClr val="accent5"/>
                </a:solidFill>
                <a:hlinkClick r:id="rId4"/>
              </a:rPr>
              <a:t>www.atlassian.com/jira</a:t>
            </a:r>
            <a:r>
              <a:rPr lang="ru-RU" sz="2000" dirty="0" smtClean="0">
                <a:solidFill>
                  <a:schemeClr val="accent5"/>
                </a:solidFill>
              </a:rPr>
              <a:t> </a:t>
            </a:r>
            <a:endParaRPr lang="ru-RU" sz="2000" dirty="0">
              <a:solidFill>
                <a:schemeClr val="accent5"/>
              </a:solidFill>
            </a:endParaRPr>
          </a:p>
          <a:p>
            <a:pPr algn="just"/>
            <a:r>
              <a:rPr lang="ru-RU" sz="2000" dirty="0">
                <a:solidFill>
                  <a:schemeClr val="accent5"/>
                </a:solidFill>
                <a:hlinkClick r:id="rId5"/>
              </a:rPr>
              <a:t>https://</a:t>
            </a:r>
            <a:r>
              <a:rPr lang="ru-RU" sz="2000" dirty="0" smtClean="0">
                <a:solidFill>
                  <a:schemeClr val="accent5"/>
                </a:solidFill>
                <a:hlinkClick r:id="rId5"/>
              </a:rPr>
              <a:t>asana.com/ru?noredirect</a:t>
            </a:r>
            <a:r>
              <a:rPr lang="ru-RU" sz="2000" dirty="0" smtClean="0">
                <a:solidFill>
                  <a:schemeClr val="accent5"/>
                </a:solidFill>
              </a:rPr>
              <a:t>  </a:t>
            </a:r>
            <a:endParaRPr lang="ru-RU" sz="2000" dirty="0">
              <a:solidFill>
                <a:schemeClr val="accent5"/>
              </a:solidFill>
            </a:endParaRPr>
          </a:p>
          <a:p>
            <a:pPr algn="just"/>
            <a:r>
              <a:rPr lang="ru-RU" sz="2000" dirty="0">
                <a:solidFill>
                  <a:schemeClr val="accent5"/>
                </a:solidFill>
                <a:hlinkClick r:id="rId6"/>
              </a:rPr>
              <a:t>https://www.bitrix24.ru</a:t>
            </a:r>
            <a:r>
              <a:rPr lang="ru-RU" sz="2000" dirty="0" smtClean="0">
                <a:solidFill>
                  <a:schemeClr val="accent5"/>
                </a:solidFill>
                <a:hlinkClick r:id="rId6"/>
              </a:rPr>
              <a:t>/</a:t>
            </a:r>
            <a:r>
              <a:rPr lang="ru-RU" sz="2000" dirty="0" smtClean="0">
                <a:solidFill>
                  <a:schemeClr val="accent5"/>
                </a:solidFill>
              </a:rPr>
              <a:t>  </a:t>
            </a:r>
            <a:endParaRPr lang="ru-RU" sz="2000" dirty="0">
              <a:solidFill>
                <a:schemeClr val="accent5"/>
              </a:solidFill>
            </a:endParaRPr>
          </a:p>
          <a:p>
            <a:pPr algn="just"/>
            <a:r>
              <a:rPr lang="ru-RU" sz="2000" dirty="0">
                <a:solidFill>
                  <a:schemeClr val="accent5"/>
                </a:solidFill>
                <a:hlinkClick r:id="rId7"/>
              </a:rPr>
              <a:t>https://</a:t>
            </a:r>
            <a:r>
              <a:rPr lang="ru-RU" sz="2000" dirty="0" smtClean="0">
                <a:solidFill>
                  <a:schemeClr val="accent5"/>
                </a:solidFill>
                <a:hlinkClick r:id="rId7"/>
              </a:rPr>
              <a:t>360.yandex.ru/business/tracker</a:t>
            </a:r>
            <a:r>
              <a:rPr lang="ru-RU" sz="2000" dirty="0" smtClean="0">
                <a:solidFill>
                  <a:schemeClr val="accent5"/>
                </a:solidFill>
              </a:rPr>
              <a:t> </a:t>
            </a:r>
          </a:p>
          <a:p>
            <a:pPr algn="just"/>
            <a:r>
              <a:rPr lang="en-US" sz="2000" dirty="0">
                <a:solidFill>
                  <a:schemeClr val="accent5"/>
                </a:solidFill>
                <a:hlinkClick r:id="rId8"/>
              </a:rPr>
              <a:t>https://</a:t>
            </a:r>
            <a:r>
              <a:rPr lang="en-US" sz="2000" dirty="0" smtClean="0">
                <a:solidFill>
                  <a:schemeClr val="accent5"/>
                </a:solidFill>
                <a:hlinkClick r:id="rId8"/>
              </a:rPr>
              <a:t>yandex.ru/support/tracker/ru/cloud/pricing</a:t>
            </a:r>
            <a:r>
              <a:rPr lang="ru-RU" sz="2000" dirty="0" smtClean="0">
                <a:solidFill>
                  <a:schemeClr val="accent5"/>
                </a:solidFill>
              </a:rPr>
              <a:t> </a:t>
            </a:r>
          </a:p>
          <a:p>
            <a:pPr algn="just"/>
            <a:r>
              <a:rPr lang="en-US" sz="2000" dirty="0">
                <a:solidFill>
                  <a:schemeClr val="accent5"/>
                </a:solidFill>
                <a:hlinkClick r:id="rId9"/>
              </a:rPr>
              <a:t>https://</a:t>
            </a:r>
            <a:r>
              <a:rPr lang="en-US" sz="2000" dirty="0" smtClean="0">
                <a:solidFill>
                  <a:schemeClr val="accent5"/>
                </a:solidFill>
                <a:hlinkClick r:id="rId9"/>
              </a:rPr>
              <a:t>yandex.cloud/ru</a:t>
            </a:r>
            <a:r>
              <a:rPr lang="ru-RU" sz="2000" dirty="0" smtClean="0">
                <a:solidFill>
                  <a:schemeClr val="accent5"/>
                </a:solidFill>
              </a:rPr>
              <a:t> </a:t>
            </a:r>
          </a:p>
          <a:p>
            <a:pPr algn="just"/>
            <a:r>
              <a:rPr lang="en-US" sz="2000" dirty="0">
                <a:solidFill>
                  <a:schemeClr val="accent5"/>
                </a:solidFill>
                <a:hlinkClick r:id="rId10"/>
              </a:rPr>
              <a:t>https://</a:t>
            </a:r>
            <a:r>
              <a:rPr lang="en-US" sz="2000" dirty="0" smtClean="0">
                <a:solidFill>
                  <a:schemeClr val="accent5"/>
                </a:solidFill>
                <a:hlinkClick r:id="rId10"/>
              </a:rPr>
              <a:t>hf.ru/services/yandextracker_obzor</a:t>
            </a:r>
            <a:endParaRPr lang="ru-RU" sz="2000" dirty="0" smtClean="0">
              <a:solidFill>
                <a:schemeClr val="accent5"/>
              </a:solidFill>
            </a:endParaRPr>
          </a:p>
          <a:p>
            <a:pPr algn="just"/>
            <a:r>
              <a:rPr lang="en-US" sz="2000" dirty="0">
                <a:solidFill>
                  <a:schemeClr val="accent5"/>
                </a:solidFill>
                <a:hlinkClick r:id="rId11"/>
              </a:rPr>
              <a:t>https://</a:t>
            </a:r>
            <a:r>
              <a:rPr lang="en-US" sz="2000" dirty="0" smtClean="0">
                <a:solidFill>
                  <a:schemeClr val="accent5"/>
                </a:solidFill>
                <a:hlinkClick r:id="rId11"/>
              </a:rPr>
              <a:t>www.cnews.ru/news/top/2022-04-21_otechestvennyj_konkurent</a:t>
            </a:r>
            <a:r>
              <a:rPr lang="ru-RU" sz="2000" dirty="0" smtClean="0">
                <a:solidFill>
                  <a:schemeClr val="accent5"/>
                </a:solidFill>
              </a:rPr>
              <a:t> </a:t>
            </a:r>
          </a:p>
          <a:p>
            <a:pPr algn="just"/>
            <a:r>
              <a:rPr lang="en-US" sz="2000" dirty="0">
                <a:solidFill>
                  <a:schemeClr val="accent5"/>
                </a:solidFill>
                <a:hlinkClick r:id="rId12"/>
              </a:rPr>
              <a:t>https://habr.com/ru/articles/883608</a:t>
            </a:r>
            <a:r>
              <a:rPr lang="en-US" sz="2000" dirty="0" smtClean="0">
                <a:solidFill>
                  <a:schemeClr val="accent5"/>
                </a:solidFill>
                <a:hlinkClick r:id="rId12"/>
              </a:rPr>
              <a:t>/</a:t>
            </a:r>
            <a:r>
              <a:rPr lang="ru-RU" sz="2000" dirty="0" smtClean="0">
                <a:solidFill>
                  <a:schemeClr val="accent5"/>
                </a:solidFill>
              </a:rPr>
              <a:t> </a:t>
            </a:r>
          </a:p>
          <a:p>
            <a:pPr algn="just"/>
            <a:endParaRPr lang="ru-RU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42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2039</TotalTime>
  <Words>999</Words>
  <Application>Microsoft Office PowerPoint</Application>
  <PresentationFormat>Широкоэкранный</PresentationFormat>
  <Paragraphs>137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Times New Roman</vt:lpstr>
      <vt:lpstr>Wingdings</vt:lpstr>
      <vt:lpstr>Ретро</vt:lpstr>
      <vt:lpstr>  КЕЙС «СЕРВИС ДЛЯ СОВМЕСТНОЙ РАБОТЫ YANDEX TRACKER»</vt:lpstr>
      <vt:lpstr>Основные потребности бизнеса в применении сервисов для управления проектами и совместной работы</vt:lpstr>
      <vt:lpstr>Потребности малого бизнеса</vt:lpstr>
      <vt:lpstr>Потребности среднего бизнеса</vt:lpstr>
      <vt:lpstr>Потребности крупного бизнеса </vt:lpstr>
      <vt:lpstr>Преимущества и недостатки ЯндексТрекера для разных типов бизнеса </vt:lpstr>
      <vt:lpstr>Презентация PowerPoint</vt:lpstr>
      <vt:lpstr>Как повысить привлекательность ЯндексТрекера на рынке сервисов по управлению проектами?</vt:lpstr>
      <vt:lpstr>Презентация PowerPoint</vt:lpstr>
      <vt:lpstr>Презентация PowerPoint</vt:lpstr>
      <vt:lpstr>Источники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КЕЙС «СЕРВИС ДЛЯ СОВМЕСТНОЙ РАБОТЫ YANDEX TRACKER»</dc:title>
  <dc:creator>O-O Katunya</dc:creator>
  <cp:lastModifiedBy>O-O Katunya</cp:lastModifiedBy>
  <cp:revision>54</cp:revision>
  <dcterms:created xsi:type="dcterms:W3CDTF">2025-04-07T11:16:22Z</dcterms:created>
  <dcterms:modified xsi:type="dcterms:W3CDTF">2026-05-28T08:48:15Z</dcterms:modified>
</cp:coreProperties>
</file>